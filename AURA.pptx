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5143500" cy="9144000"/>
  <p:embeddedFontLst>
    <p:embeddedFont>
      <p:font typeface="Arial Black"/>
      <p:regular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g2KT1Z1EStaO5EDhVcEyTksUmJ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font" Target="fonts/ArialBlack-regular.fnt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dfe49f5234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dfe49f5234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3dfe49f5234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6" name="Google Shape;66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9" name="Google Shape;71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4" name="Google Shape;74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1554480"/>
            <a:ext cx="9144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600"/>
              <a:buFont typeface="Arial Black"/>
              <a:buNone/>
            </a:pPr>
            <a:r>
              <a:rPr b="1" i="0" lang="en-US" sz="9600" u="none" cap="none" strike="noStrike">
                <a:solidFill>
                  <a:srgbClr val="00FFFF"/>
                </a:solidFill>
                <a:latin typeface="Arial Black"/>
                <a:ea typeface="Arial Black"/>
                <a:cs typeface="Arial Black"/>
                <a:sym typeface="Arial Black"/>
              </a:rPr>
              <a:t>AURA</a:t>
            </a:r>
            <a:endParaRPr b="0" i="0" sz="9600" u="none" cap="none" strike="noStrik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0" y="2697480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306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NEURAL INTELLIGENCE PLATFORM</a:t>
            </a:r>
            <a:endParaRPr b="0" i="0" sz="1400" u="none" cap="none" strike="noStrik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2560320" y="3182112"/>
            <a:ext cx="4023360" cy="18288"/>
          </a:xfrm>
          <a:prstGeom prst="rect">
            <a:avLst/>
          </a:prstGeom>
          <a:solidFill>
            <a:srgbClr val="9B7090">
              <a:alpha val="80000"/>
            </a:srgbClr>
          </a:solidFill>
          <a:ln cap="flat" cmpd="sng" w="12700">
            <a:solidFill>
              <a:srgbClr val="9B7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14400" y="33375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1A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Presented by: Ghinwa Allaoui &amp; Riam Abbas</a:t>
            </a:r>
            <a:endParaRPr b="0" i="0" sz="1300" u="none" cap="none" strike="noStrik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14400" y="363931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3A5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Tutor: Mulham Fetna     ·    </a:t>
            </a:r>
            <a:r>
              <a:rPr lang="en-US" sz="1100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Mentor: Hala Dagher</a:t>
            </a:r>
            <a:r>
              <a:rPr b="0" i="0" lang="en-US" sz="1100" u="none" cap="none" strike="noStrike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    ·     </a:t>
            </a:r>
            <a:r>
              <a:rPr lang="en-US" sz="1100">
                <a:solidFill>
                  <a:srgbClr val="00FFFF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b="0" i="0" sz="1100" u="none" cap="none" strike="noStrike">
              <a:solidFill>
                <a:srgbClr val="00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77240" y="4059936"/>
            <a:ext cx="1143000" cy="274320"/>
          </a:xfrm>
          <a:prstGeom prst="roundRect">
            <a:avLst>
              <a:gd fmla="val 16667" name="adj"/>
            </a:avLst>
          </a:prstGeom>
          <a:solidFill>
            <a:srgbClr val="3B82F6">
              <a:alpha val="25098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777240" y="4059936"/>
            <a:ext cx="1143000" cy="2743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YOLOv8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057400" y="4059936"/>
            <a:ext cx="1143000" cy="274320"/>
          </a:xfrm>
          <a:prstGeom prst="roundRect">
            <a:avLst>
              <a:gd fmla="val 16667" name="adj"/>
            </a:avLst>
          </a:prstGeom>
          <a:solidFill>
            <a:srgbClr val="10B981">
              <a:alpha val="25098"/>
            </a:srgbClr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2057400" y="4059936"/>
            <a:ext cx="1143000" cy="27432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337560" y="4059936"/>
            <a:ext cx="1143000" cy="274320"/>
          </a:xfrm>
          <a:prstGeom prst="roundRect">
            <a:avLst>
              <a:gd fmla="val 16667" name="adj"/>
            </a:avLst>
          </a:prstGeom>
          <a:solidFill>
            <a:srgbClr val="F59E0B">
              <a:alpha val="25098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3337560" y="4059936"/>
            <a:ext cx="1143000" cy="2743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SQLite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617720" y="4059936"/>
            <a:ext cx="1143000" cy="274320"/>
          </a:xfrm>
          <a:prstGeom prst="roundRect">
            <a:avLst>
              <a:gd fmla="val 16667" name="adj"/>
            </a:avLst>
          </a:prstGeom>
          <a:solidFill>
            <a:srgbClr val="8B5CF6">
              <a:alpha val="25098"/>
            </a:srgbClr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4617720" y="4059936"/>
            <a:ext cx="1143000" cy="274320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OpenCV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897880" y="4059936"/>
            <a:ext cx="1143000" cy="274320"/>
          </a:xfrm>
          <a:prstGeom prst="roundRect">
            <a:avLst>
              <a:gd fmla="val 16667" name="adj"/>
            </a:avLst>
          </a:prstGeom>
          <a:solidFill>
            <a:srgbClr val="06B6D4">
              <a:alpha val="25098"/>
            </a:srgbClr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5897880" y="4059936"/>
            <a:ext cx="1143000" cy="27432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Groq LLM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7178040" y="4059936"/>
            <a:ext cx="1143000" cy="274320"/>
          </a:xfrm>
          <a:prstGeom prst="roundRect">
            <a:avLst>
              <a:gd fmla="val 16667" name="adj"/>
            </a:avLst>
          </a:prstGeom>
          <a:solidFill>
            <a:srgbClr val="EF4444">
              <a:alpha val="25098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7178040" y="4059936"/>
            <a:ext cx="1143000" cy="27432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Chart</a:t>
            </a: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.js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22530" y="-194450"/>
            <a:ext cx="3048000" cy="2766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23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164592" y="128016"/>
            <a:ext cx="274320" cy="3200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164592" y="128016"/>
            <a:ext cx="32004" cy="201168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8705088" y="128016"/>
            <a:ext cx="274320" cy="3200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8947404" y="128016"/>
            <a:ext cx="32004" cy="201168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164592" y="5029200"/>
            <a:ext cx="274320" cy="3200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164592" y="4846320"/>
            <a:ext cx="32004" cy="219456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8705088" y="5029200"/>
            <a:ext cx="274320" cy="3200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8947404" y="4846320"/>
            <a:ext cx="32004" cy="219456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0" y="5120640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AURA — Neural Intelligence Platform  ·  Ghinwa Allaoui &amp; Riam Abbas  ·  2025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274320" y="137160"/>
            <a:ext cx="1645920" cy="292608"/>
          </a:xfrm>
          <a:prstGeom prst="roundRect">
            <a:avLst>
              <a:gd fmla="val 15625" name="adj"/>
            </a:avLst>
          </a:prstGeom>
          <a:solidFill>
            <a:srgbClr val="3B82F6">
              <a:alpha val="20000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274320" y="13716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2011680" y="109728"/>
            <a:ext cx="6858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Objectives &amp; Goals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274320" y="749808"/>
            <a:ext cx="8595360" cy="658368"/>
          </a:xfrm>
          <a:prstGeom prst="roundRect">
            <a:avLst>
              <a:gd fmla="val 8333" name="adj"/>
            </a:avLst>
          </a:prstGeom>
          <a:solidFill>
            <a:srgbClr val="151E2A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457200" y="80467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AURA (Strategic Neural Auditor) is a comprehensive AI-powered security intelligence platform. It combines YOLOv8, FastAPI, Groq LLM and OpenCV to analyze images, videos, and text for threat detection in real time.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274320" y="1536192"/>
            <a:ext cx="4023360" cy="960120"/>
          </a:xfrm>
          <a:prstGeom prst="roundRect">
            <a:avLst>
              <a:gd fmla="val 6667" name="adj"/>
            </a:avLst>
          </a:prstGeom>
          <a:solidFill>
            <a:srgbClr val="151E2A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384048" y="1627632"/>
            <a:ext cx="457200" cy="365760"/>
          </a:xfrm>
          <a:prstGeom prst="roundRect">
            <a:avLst>
              <a:gd fmla="val 12500" name="adj"/>
            </a:avLst>
          </a:prstGeom>
          <a:solidFill>
            <a:srgbClr val="3B82F6">
              <a:alpha val="20000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384048" y="162763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932688" y="1627632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Local AI Deployment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20624" y="2011680"/>
            <a:ext cx="3749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Run YOLOv8 object detection fully on-device via FastAPI — no cloud needed.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274320" y="2615184"/>
            <a:ext cx="4023360" cy="960120"/>
          </a:xfrm>
          <a:prstGeom prst="roundRect">
            <a:avLst>
              <a:gd fmla="val 6667" name="adj"/>
            </a:avLst>
          </a:prstGeom>
          <a:solidFill>
            <a:srgbClr val="151E2A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384048" y="2706624"/>
            <a:ext cx="457200" cy="365760"/>
          </a:xfrm>
          <a:prstGeom prst="roundRect">
            <a:avLst>
              <a:gd fmla="val 12500" name="adj"/>
            </a:avLst>
          </a:prstGeom>
          <a:solidFill>
            <a:srgbClr val="10B981">
              <a:alpha val="20000"/>
            </a:srgbClr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384048" y="2706624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932688" y="2706624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Multi-Modal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420624" y="3090672"/>
            <a:ext cx="3749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Detect threats in images, videos, live camera, and Arabic/English text.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274320" y="3694176"/>
            <a:ext cx="4023360" cy="960120"/>
          </a:xfrm>
          <a:prstGeom prst="roundRect">
            <a:avLst>
              <a:gd fmla="val 6667" name="adj"/>
            </a:avLst>
          </a:prstGeom>
          <a:solidFill>
            <a:srgbClr val="151E2A"/>
          </a:solidFill>
          <a:ln cap="flat" cmpd="sng" w="1905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384048" y="3785616"/>
            <a:ext cx="457200" cy="365760"/>
          </a:xfrm>
          <a:prstGeom prst="roundRect">
            <a:avLst>
              <a:gd fmla="val 12500" name="adj"/>
            </a:avLst>
          </a:prstGeom>
          <a:solidFill>
            <a:srgbClr val="06B6D4">
              <a:alpha val="20000"/>
            </a:srgbClr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384048" y="3785616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932688" y="3785616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Processing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20624" y="4169664"/>
            <a:ext cx="3749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Live camera stream analyzed at ~3 FPS with instant YOLO overlay.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4617720" y="1536192"/>
            <a:ext cx="4023360" cy="960120"/>
          </a:xfrm>
          <a:prstGeom prst="roundRect">
            <a:avLst>
              <a:gd fmla="val 6667" name="adj"/>
            </a:avLst>
          </a:prstGeom>
          <a:solidFill>
            <a:srgbClr val="151E2A"/>
          </a:solidFill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4727448" y="1627632"/>
            <a:ext cx="457200" cy="365760"/>
          </a:xfrm>
          <a:prstGeom prst="roundRect">
            <a:avLst>
              <a:gd fmla="val 12500" name="adj"/>
            </a:avLst>
          </a:prstGeom>
          <a:solidFill>
            <a:srgbClr val="8B5CF6">
              <a:alpha val="20000"/>
            </a:srgbClr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4727448" y="162763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5276088" y="1627632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Text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4764024" y="2011680"/>
            <a:ext cx="3749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Groq llama-3.3-70b for multi-language semantic threat scoring.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4617720" y="2615184"/>
            <a:ext cx="4023360" cy="960120"/>
          </a:xfrm>
          <a:prstGeom prst="roundRect">
            <a:avLst>
              <a:gd fmla="val 6667" name="adj"/>
            </a:avLst>
          </a:prstGeom>
          <a:solidFill>
            <a:srgbClr val="151E2A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4727448" y="2706624"/>
            <a:ext cx="457200" cy="365760"/>
          </a:xfrm>
          <a:prstGeom prst="roundRect">
            <a:avLst>
              <a:gd fmla="val 12500" name="adj"/>
            </a:avLst>
          </a:prstGeom>
          <a:solidFill>
            <a:srgbClr val="F59E0B">
              <a:alpha val="20000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4727448" y="2706624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5276088" y="2706624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Secure Authentication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4764024" y="3090672"/>
            <a:ext cx="3749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JWT + bcrypt login, role-based access (admin/analyst/viewer).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4617720" y="3694176"/>
            <a:ext cx="4023360" cy="960120"/>
          </a:xfrm>
          <a:prstGeom prst="roundRect">
            <a:avLst>
              <a:gd fmla="val 6667" name="adj"/>
            </a:avLst>
          </a:prstGeom>
          <a:solidFill>
            <a:srgbClr val="151E2A"/>
          </a:solidFill>
          <a:ln cap="flat" cmpd="sng" w="190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4727448" y="3785616"/>
            <a:ext cx="457200" cy="365760"/>
          </a:xfrm>
          <a:prstGeom prst="roundRect">
            <a:avLst>
              <a:gd fmla="val 12500" name="adj"/>
            </a:avLst>
          </a:prstGeom>
          <a:solidFill>
            <a:srgbClr val="EF4444">
              <a:alpha val="20000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4727448" y="3785616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5276088" y="3785616"/>
            <a:ext cx="3246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Full-Stack Platform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4764024" y="4169664"/>
            <a:ext cx="3749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3-tier: AI → FastAPI → Responsive dashboard with PDF reports.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23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"/>
          <p:cNvSpPr/>
          <p:nvPr/>
        </p:nvSpPr>
        <p:spPr>
          <a:xfrm>
            <a:off x="164592" y="128016"/>
            <a:ext cx="274320" cy="3200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164592" y="128016"/>
            <a:ext cx="32004" cy="201168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8705088" y="128016"/>
            <a:ext cx="274320" cy="3200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8947404" y="128016"/>
            <a:ext cx="32004" cy="201168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164592" y="5029200"/>
            <a:ext cx="274320" cy="3200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164592" y="4846320"/>
            <a:ext cx="32004" cy="219456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8705088" y="5029200"/>
            <a:ext cx="274320" cy="3200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8947404" y="4846320"/>
            <a:ext cx="32004" cy="219456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0" y="5120640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AURA — Neural Intelligence Platform  ·  Ghinwa Allaoui &amp; Riam Abbas  ·  2025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274320" y="137160"/>
            <a:ext cx="1645920" cy="292608"/>
          </a:xfrm>
          <a:prstGeom prst="roundRect">
            <a:avLst>
              <a:gd fmla="val 15625" name="adj"/>
            </a:avLst>
          </a:prstGeom>
          <a:solidFill>
            <a:srgbClr val="EF4444">
              <a:alpha val="20000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274320" y="13716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PROBLEM / SOLUTION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2011680" y="109728"/>
            <a:ext cx="6858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 &amp; Proposed Solution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274320" y="713232"/>
            <a:ext cx="3931920" cy="347472"/>
          </a:xfrm>
          <a:prstGeom prst="roundRect">
            <a:avLst>
              <a:gd fmla="val 13158" name="adj"/>
            </a:avLst>
          </a:prstGeom>
          <a:solidFill>
            <a:srgbClr val="EF4444">
              <a:alpha val="20000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274320" y="71323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274320" y="1097280"/>
            <a:ext cx="3931920" cy="3383280"/>
          </a:xfrm>
          <a:prstGeom prst="roundRect">
            <a:avLst>
              <a:gd fmla="val 1622" name="adj"/>
            </a:avLst>
          </a:prstGeom>
          <a:solidFill>
            <a:srgbClr val="151E2A"/>
          </a:solidFill>
          <a:ln cap="flat" cmpd="sng" w="12700">
            <a:solidFill>
              <a:srgbClr val="EF444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438912" y="1243584"/>
            <a:ext cx="146304" cy="146304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676656" y="118872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Security teams face massive volumes of live footage with no real-time AI support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438912" y="1847088"/>
            <a:ext cx="146304" cy="146304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676656" y="1792224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Manual threat detection is slow, inconsistent, and error-prone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438912" y="2450592"/>
            <a:ext cx="146304" cy="146304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676656" y="2395728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Existing tools handle only one input type (camera only, or text only)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438912" y="3054096"/>
            <a:ext cx="146304" cy="146304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676656" y="2999232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No unified dashboard for detection, analytics, and reporting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438912" y="3657600"/>
            <a:ext cx="146304" cy="146304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676656" y="3602736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Text threats in Arabic and multiple languages go undetected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4315968" y="2578608"/>
            <a:ext cx="5120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4937760" y="713232"/>
            <a:ext cx="3931920" cy="347472"/>
          </a:xfrm>
          <a:prstGeom prst="roundRect">
            <a:avLst>
              <a:gd fmla="val 13158" name="adj"/>
            </a:avLst>
          </a:prstGeom>
          <a:solidFill>
            <a:srgbClr val="10B981">
              <a:alpha val="20000"/>
            </a:srgbClr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4937760" y="71323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THE SOLUTION — AURA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4937760" y="1097280"/>
            <a:ext cx="3931920" cy="3383280"/>
          </a:xfrm>
          <a:prstGeom prst="roundRect">
            <a:avLst>
              <a:gd fmla="val 1622" name="adj"/>
            </a:avLst>
          </a:prstGeom>
          <a:solidFill>
            <a:srgbClr val="151E2A"/>
          </a:solidFill>
          <a:ln cap="flat" cmpd="sng" w="12700">
            <a:solidFill>
              <a:srgbClr val="10B981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5084064" y="1243584"/>
            <a:ext cx="146304" cy="146304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5321808" y="118872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Live camera streams processed at ~3 FPS with instant YOLO detection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5084064" y="1847088"/>
            <a:ext cx="146304" cy="146304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5321808" y="1792224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AI classification replaces manual review with 80%+ confidence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5084064" y="2450592"/>
            <a:ext cx="146304" cy="146304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5321808" y="2395728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Single platform: images, videos, text, and live camera in one dashboard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5084064" y="3054096"/>
            <a:ext cx="146304" cy="146304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5321808" y="2999232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Unified dark-mode dashboard with charts, history, and PDF reports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5084064" y="3657600"/>
            <a:ext cx="146304" cy="146304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5321808" y="3602736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Groq LLM analyzes Arabic, English, French text with entity extraction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274320" y="4590288"/>
            <a:ext cx="8595360" cy="256032"/>
          </a:xfrm>
          <a:prstGeom prst="roundRect">
            <a:avLst>
              <a:gd fmla="val 14286" name="adj"/>
            </a:avLst>
          </a:prstGeom>
          <a:solidFill>
            <a:srgbClr val="151E2A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457200" y="459028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TARGET AUDIENCE: 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1920240" y="4590288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Security ops teams  ·  Campus &amp; facility managers  ·  Law enforcement  ·  Any organization needing real-time AI threat monitoring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23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/>
          <p:nvPr/>
        </p:nvSpPr>
        <p:spPr>
          <a:xfrm>
            <a:off x="164592" y="128016"/>
            <a:ext cx="274320" cy="32004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164592" y="128016"/>
            <a:ext cx="32004" cy="201168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8705088" y="128016"/>
            <a:ext cx="274320" cy="32004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8947404" y="128016"/>
            <a:ext cx="32004" cy="201168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164592" y="5029200"/>
            <a:ext cx="274320" cy="32004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164592" y="4846320"/>
            <a:ext cx="32004" cy="219456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8705088" y="5029200"/>
            <a:ext cx="274320" cy="32004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8947404" y="4846320"/>
            <a:ext cx="32004" cy="219456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0" y="5120640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AURA — Neural Intelligence Platform  ·  Ghinwa Allaoui &amp; Riam Abbas  ·  2025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274320" y="137160"/>
            <a:ext cx="1645920" cy="292608"/>
          </a:xfrm>
          <a:prstGeom prst="roundRect">
            <a:avLst>
              <a:gd fmla="val 15625" name="adj"/>
            </a:avLst>
          </a:prstGeom>
          <a:solidFill>
            <a:srgbClr val="8B5CF6">
              <a:alpha val="20000"/>
            </a:srgbClr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274320" y="13716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ADVANTAGE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2011680" y="109728"/>
            <a:ext cx="6858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Competitive Advantage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283464" y="749808"/>
            <a:ext cx="2907792" cy="347472"/>
          </a:xfrm>
          <a:prstGeom prst="rect">
            <a:avLst/>
          </a:prstGeom>
          <a:solidFill>
            <a:srgbClr val="151E2A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283464" y="749808"/>
            <a:ext cx="2907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3209544" y="749808"/>
            <a:ext cx="1810512" cy="347472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3209544" y="749808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AURA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5038344" y="749808"/>
            <a:ext cx="1901952" cy="347472"/>
          </a:xfrm>
          <a:prstGeom prst="rect">
            <a:avLst/>
          </a:prstGeom>
          <a:solidFill>
            <a:srgbClr val="151E2A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5038344" y="749808"/>
            <a:ext cx="19019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Generic CCTV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6958584" y="749808"/>
            <a:ext cx="1901952" cy="347472"/>
          </a:xfrm>
          <a:prstGeom prst="rect">
            <a:avLst/>
          </a:prstGeom>
          <a:solidFill>
            <a:srgbClr val="151E2A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6958584" y="749808"/>
            <a:ext cx="19019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Cloud AI Tools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283464" y="1133856"/>
            <a:ext cx="2907792" cy="384048"/>
          </a:xfrm>
          <a:prstGeom prst="rect">
            <a:avLst/>
          </a:prstGeom>
          <a:solidFill>
            <a:srgbClr val="151E2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310896" y="1133856"/>
            <a:ext cx="28529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Multi-modal: image + video + text + camera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3209544" y="1133856"/>
            <a:ext cx="1810512" cy="384048"/>
          </a:xfrm>
          <a:prstGeom prst="rect">
            <a:avLst/>
          </a:prstGeom>
          <a:solidFill>
            <a:srgbClr val="151E2A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3236976" y="1133856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5038344" y="1133856"/>
            <a:ext cx="1901952" cy="384048"/>
          </a:xfrm>
          <a:prstGeom prst="rect">
            <a:avLst/>
          </a:prstGeom>
          <a:solidFill>
            <a:srgbClr val="151E2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5065776" y="1133856"/>
            <a:ext cx="1847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Cam only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6958584" y="1133856"/>
            <a:ext cx="1901952" cy="384048"/>
          </a:xfrm>
          <a:prstGeom prst="rect">
            <a:avLst/>
          </a:prstGeom>
          <a:solidFill>
            <a:srgbClr val="151E2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6986016" y="1133856"/>
            <a:ext cx="1847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Partial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283464" y="1572768"/>
            <a:ext cx="2907792" cy="384048"/>
          </a:xfrm>
          <a:prstGeom prst="rect">
            <a:avLst/>
          </a:prstGeom>
          <a:solidFill>
            <a:srgbClr val="0F192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310896" y="1572768"/>
            <a:ext cx="28529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On-device / offline processing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3209544" y="1572768"/>
            <a:ext cx="1810512" cy="384048"/>
          </a:xfrm>
          <a:prstGeom prst="rect">
            <a:avLst/>
          </a:prstGeom>
          <a:solidFill>
            <a:srgbClr val="151E2A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3236976" y="1572768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5038344" y="1572768"/>
            <a:ext cx="1901952" cy="384048"/>
          </a:xfrm>
          <a:prstGeom prst="rect">
            <a:avLst/>
          </a:prstGeom>
          <a:solidFill>
            <a:srgbClr val="0F192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5065776" y="1572768"/>
            <a:ext cx="1847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6958584" y="1572768"/>
            <a:ext cx="1901952" cy="384048"/>
          </a:xfrm>
          <a:prstGeom prst="rect">
            <a:avLst/>
          </a:prstGeom>
          <a:solidFill>
            <a:srgbClr val="0F192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6986016" y="1572768"/>
            <a:ext cx="1847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NO — cloud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283464" y="2011680"/>
            <a:ext cx="2907792" cy="384048"/>
          </a:xfrm>
          <a:prstGeom prst="rect">
            <a:avLst/>
          </a:prstGeom>
          <a:solidFill>
            <a:srgbClr val="151E2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310896" y="2011680"/>
            <a:ext cx="28529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LLM Arabic text threat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3209544" y="2011680"/>
            <a:ext cx="1810512" cy="384048"/>
          </a:xfrm>
          <a:prstGeom prst="rect">
            <a:avLst/>
          </a:prstGeom>
          <a:solidFill>
            <a:srgbClr val="151E2A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3236976" y="2011680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5038344" y="2011680"/>
            <a:ext cx="1901952" cy="384048"/>
          </a:xfrm>
          <a:prstGeom prst="rect">
            <a:avLst/>
          </a:prstGeom>
          <a:solidFill>
            <a:srgbClr val="151E2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5065776" y="2011680"/>
            <a:ext cx="1847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6958584" y="2011680"/>
            <a:ext cx="1901952" cy="384048"/>
          </a:xfrm>
          <a:prstGeom prst="rect">
            <a:avLst/>
          </a:prstGeom>
          <a:solidFill>
            <a:srgbClr val="151E2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6986016" y="2011680"/>
            <a:ext cx="1847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Partial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283464" y="2450592"/>
            <a:ext cx="2907792" cy="384048"/>
          </a:xfrm>
          <a:prstGeom prst="rect">
            <a:avLst/>
          </a:prstGeom>
          <a:solidFill>
            <a:srgbClr val="0F192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310896" y="2450592"/>
            <a:ext cx="28529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YOLO camera overlay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3209544" y="2450592"/>
            <a:ext cx="1810512" cy="384048"/>
          </a:xfrm>
          <a:prstGeom prst="rect">
            <a:avLst/>
          </a:prstGeom>
          <a:solidFill>
            <a:srgbClr val="151E2A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3236976" y="2450592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5038344" y="2450592"/>
            <a:ext cx="1901952" cy="384048"/>
          </a:xfrm>
          <a:prstGeom prst="rect">
            <a:avLst/>
          </a:prstGeom>
          <a:solidFill>
            <a:srgbClr val="0F192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5065776" y="2450592"/>
            <a:ext cx="1847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Basic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6958584" y="2450592"/>
            <a:ext cx="1901952" cy="384048"/>
          </a:xfrm>
          <a:prstGeom prst="rect">
            <a:avLst/>
          </a:prstGeom>
          <a:solidFill>
            <a:srgbClr val="0F192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4"/>
          <p:cNvSpPr/>
          <p:nvPr/>
        </p:nvSpPr>
        <p:spPr>
          <a:xfrm>
            <a:off x="6986016" y="2450592"/>
            <a:ext cx="1847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283464" y="2889504"/>
            <a:ext cx="2907792" cy="384048"/>
          </a:xfrm>
          <a:prstGeom prst="rect">
            <a:avLst/>
          </a:prstGeom>
          <a:solidFill>
            <a:srgbClr val="151E2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4"/>
          <p:cNvSpPr/>
          <p:nvPr/>
        </p:nvSpPr>
        <p:spPr>
          <a:xfrm>
            <a:off x="310896" y="2889504"/>
            <a:ext cx="28529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JWT Auth + role-based access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3209544" y="2889504"/>
            <a:ext cx="1810512" cy="384048"/>
          </a:xfrm>
          <a:prstGeom prst="rect">
            <a:avLst/>
          </a:prstGeom>
          <a:solidFill>
            <a:srgbClr val="151E2A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"/>
          <p:cNvSpPr/>
          <p:nvPr/>
        </p:nvSpPr>
        <p:spPr>
          <a:xfrm>
            <a:off x="3236976" y="2889504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5038344" y="2889504"/>
            <a:ext cx="1901952" cy="384048"/>
          </a:xfrm>
          <a:prstGeom prst="rect">
            <a:avLst/>
          </a:prstGeom>
          <a:solidFill>
            <a:srgbClr val="151E2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4"/>
          <p:cNvSpPr/>
          <p:nvPr/>
        </p:nvSpPr>
        <p:spPr>
          <a:xfrm>
            <a:off x="5065776" y="2889504"/>
            <a:ext cx="1847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6958584" y="2889504"/>
            <a:ext cx="1901952" cy="384048"/>
          </a:xfrm>
          <a:prstGeom prst="rect">
            <a:avLst/>
          </a:prstGeom>
          <a:solidFill>
            <a:srgbClr val="151E2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4"/>
          <p:cNvSpPr/>
          <p:nvPr/>
        </p:nvSpPr>
        <p:spPr>
          <a:xfrm>
            <a:off x="6986016" y="2889504"/>
            <a:ext cx="1847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283464" y="3328416"/>
            <a:ext cx="2907792" cy="384048"/>
          </a:xfrm>
          <a:prstGeom prst="rect">
            <a:avLst/>
          </a:prstGeom>
          <a:solidFill>
            <a:srgbClr val="0F192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4"/>
          <p:cNvSpPr/>
          <p:nvPr/>
        </p:nvSpPr>
        <p:spPr>
          <a:xfrm>
            <a:off x="310896" y="3328416"/>
            <a:ext cx="28529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PDF security report generator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3209544" y="3328416"/>
            <a:ext cx="1810512" cy="384048"/>
          </a:xfrm>
          <a:prstGeom prst="rect">
            <a:avLst/>
          </a:prstGeom>
          <a:solidFill>
            <a:srgbClr val="151E2A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4"/>
          <p:cNvSpPr/>
          <p:nvPr/>
        </p:nvSpPr>
        <p:spPr>
          <a:xfrm>
            <a:off x="3236976" y="3328416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5038344" y="3328416"/>
            <a:ext cx="1901952" cy="384048"/>
          </a:xfrm>
          <a:prstGeom prst="rect">
            <a:avLst/>
          </a:prstGeom>
          <a:solidFill>
            <a:srgbClr val="0F192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4"/>
          <p:cNvSpPr/>
          <p:nvPr/>
        </p:nvSpPr>
        <p:spPr>
          <a:xfrm>
            <a:off x="5065776" y="3328416"/>
            <a:ext cx="1847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6958584" y="3328416"/>
            <a:ext cx="1901952" cy="384048"/>
          </a:xfrm>
          <a:prstGeom prst="rect">
            <a:avLst/>
          </a:prstGeom>
          <a:solidFill>
            <a:srgbClr val="0F192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4"/>
          <p:cNvSpPr/>
          <p:nvPr/>
        </p:nvSpPr>
        <p:spPr>
          <a:xfrm>
            <a:off x="6986016" y="3328416"/>
            <a:ext cx="1847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Partial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283464" y="3767328"/>
            <a:ext cx="2907792" cy="384048"/>
          </a:xfrm>
          <a:prstGeom prst="rect">
            <a:avLst/>
          </a:prstGeom>
          <a:solidFill>
            <a:srgbClr val="151E2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4"/>
          <p:cNvSpPr/>
          <p:nvPr/>
        </p:nvSpPr>
        <p:spPr>
          <a:xfrm>
            <a:off x="310896" y="3767328"/>
            <a:ext cx="28529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Open source / no API cost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3209544" y="3767328"/>
            <a:ext cx="1810512" cy="384048"/>
          </a:xfrm>
          <a:prstGeom prst="rect">
            <a:avLst/>
          </a:prstGeom>
          <a:solidFill>
            <a:srgbClr val="151E2A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4"/>
          <p:cNvSpPr/>
          <p:nvPr/>
        </p:nvSpPr>
        <p:spPr>
          <a:xfrm>
            <a:off x="3236976" y="3767328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5038344" y="3767328"/>
            <a:ext cx="1901952" cy="384048"/>
          </a:xfrm>
          <a:prstGeom prst="rect">
            <a:avLst/>
          </a:prstGeom>
          <a:solidFill>
            <a:srgbClr val="151E2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4"/>
          <p:cNvSpPr/>
          <p:nvPr/>
        </p:nvSpPr>
        <p:spPr>
          <a:xfrm>
            <a:off x="5065776" y="3767328"/>
            <a:ext cx="1847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4"/>
          <p:cNvSpPr/>
          <p:nvPr/>
        </p:nvSpPr>
        <p:spPr>
          <a:xfrm>
            <a:off x="6958584" y="3767328"/>
            <a:ext cx="1901952" cy="384048"/>
          </a:xfrm>
          <a:prstGeom prst="rect">
            <a:avLst/>
          </a:prstGeom>
          <a:solidFill>
            <a:srgbClr val="151E2A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4"/>
          <p:cNvSpPr/>
          <p:nvPr/>
        </p:nvSpPr>
        <p:spPr>
          <a:xfrm>
            <a:off x="6986016" y="3767328"/>
            <a:ext cx="1847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283464" y="4206240"/>
            <a:ext cx="2907792" cy="384048"/>
          </a:xfrm>
          <a:prstGeom prst="rect">
            <a:avLst/>
          </a:prstGeom>
          <a:solidFill>
            <a:srgbClr val="0F192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4"/>
          <p:cNvSpPr/>
          <p:nvPr/>
        </p:nvSpPr>
        <p:spPr>
          <a:xfrm>
            <a:off x="310896" y="4206240"/>
            <a:ext cx="28529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Contextual escalation (weapon+person→CRITICAL)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4"/>
          <p:cNvSpPr/>
          <p:nvPr/>
        </p:nvSpPr>
        <p:spPr>
          <a:xfrm>
            <a:off x="3209544" y="4206240"/>
            <a:ext cx="1810512" cy="384048"/>
          </a:xfrm>
          <a:prstGeom prst="rect">
            <a:avLst/>
          </a:prstGeom>
          <a:solidFill>
            <a:srgbClr val="151E2A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4"/>
          <p:cNvSpPr/>
          <p:nvPr/>
        </p:nvSpPr>
        <p:spPr>
          <a:xfrm>
            <a:off x="3236976" y="4206240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4"/>
          <p:cNvSpPr/>
          <p:nvPr/>
        </p:nvSpPr>
        <p:spPr>
          <a:xfrm>
            <a:off x="5038344" y="4206240"/>
            <a:ext cx="1901952" cy="384048"/>
          </a:xfrm>
          <a:prstGeom prst="rect">
            <a:avLst/>
          </a:prstGeom>
          <a:solidFill>
            <a:srgbClr val="0F192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4"/>
          <p:cNvSpPr/>
          <p:nvPr/>
        </p:nvSpPr>
        <p:spPr>
          <a:xfrm>
            <a:off x="5065776" y="4206240"/>
            <a:ext cx="1847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4"/>
          <p:cNvSpPr/>
          <p:nvPr/>
        </p:nvSpPr>
        <p:spPr>
          <a:xfrm>
            <a:off x="6958584" y="4206240"/>
            <a:ext cx="1901952" cy="384048"/>
          </a:xfrm>
          <a:prstGeom prst="rect">
            <a:avLst/>
          </a:prstGeom>
          <a:solidFill>
            <a:srgbClr val="0F192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4"/>
          <p:cNvSpPr/>
          <p:nvPr/>
        </p:nvSpPr>
        <p:spPr>
          <a:xfrm>
            <a:off x="6986016" y="4206240"/>
            <a:ext cx="1847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Partial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23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"/>
          <p:cNvSpPr/>
          <p:nvPr/>
        </p:nvSpPr>
        <p:spPr>
          <a:xfrm>
            <a:off x="164592" y="128016"/>
            <a:ext cx="274320" cy="32004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5"/>
          <p:cNvSpPr/>
          <p:nvPr/>
        </p:nvSpPr>
        <p:spPr>
          <a:xfrm>
            <a:off x="164592" y="128016"/>
            <a:ext cx="32004" cy="201168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5"/>
          <p:cNvSpPr/>
          <p:nvPr/>
        </p:nvSpPr>
        <p:spPr>
          <a:xfrm>
            <a:off x="8705088" y="128016"/>
            <a:ext cx="274320" cy="32004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5"/>
          <p:cNvSpPr/>
          <p:nvPr/>
        </p:nvSpPr>
        <p:spPr>
          <a:xfrm>
            <a:off x="8947404" y="128016"/>
            <a:ext cx="32004" cy="201168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5"/>
          <p:cNvSpPr/>
          <p:nvPr/>
        </p:nvSpPr>
        <p:spPr>
          <a:xfrm>
            <a:off x="164592" y="5029200"/>
            <a:ext cx="274320" cy="32004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5"/>
          <p:cNvSpPr/>
          <p:nvPr/>
        </p:nvSpPr>
        <p:spPr>
          <a:xfrm>
            <a:off x="164592" y="4846320"/>
            <a:ext cx="32004" cy="219456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5"/>
          <p:cNvSpPr/>
          <p:nvPr/>
        </p:nvSpPr>
        <p:spPr>
          <a:xfrm>
            <a:off x="8705088" y="5029200"/>
            <a:ext cx="274320" cy="32004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5"/>
          <p:cNvSpPr/>
          <p:nvPr/>
        </p:nvSpPr>
        <p:spPr>
          <a:xfrm>
            <a:off x="8947404" y="4846320"/>
            <a:ext cx="32004" cy="219456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5"/>
          <p:cNvSpPr/>
          <p:nvPr/>
        </p:nvSpPr>
        <p:spPr>
          <a:xfrm>
            <a:off x="0" y="5120640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AURA — Neural Intelligence Platform  ·  Ghinwa Allaoui &amp; Riam Abbas  ·  2025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274320" y="137160"/>
            <a:ext cx="1645920" cy="292608"/>
          </a:xfrm>
          <a:prstGeom prst="roundRect">
            <a:avLst>
              <a:gd fmla="val 15625" name="adj"/>
            </a:avLst>
          </a:prstGeom>
          <a:solidFill>
            <a:srgbClr val="06B6D4">
              <a:alpha val="20000"/>
            </a:srgbClr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5"/>
          <p:cNvSpPr/>
          <p:nvPr/>
        </p:nvSpPr>
        <p:spPr>
          <a:xfrm>
            <a:off x="274320" y="13716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2011680" y="109728"/>
            <a:ext cx="6858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Methodology &amp; Technologies Used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274320" y="749808"/>
            <a:ext cx="8595360" cy="694944"/>
          </a:xfrm>
          <a:prstGeom prst="roundRect">
            <a:avLst>
              <a:gd fmla="val 7895" name="adj"/>
            </a:avLst>
          </a:prstGeom>
          <a:solidFill>
            <a:srgbClr val="151E2A"/>
          </a:solidFill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5"/>
          <p:cNvSpPr/>
          <p:nvPr/>
        </p:nvSpPr>
        <p:spPr>
          <a:xfrm>
            <a:off x="274320" y="749808"/>
            <a:ext cx="8595360" cy="36576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5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FRONTEND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457200" y="113385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HTML5 · CSS3 · JavaScript ES6+ · Chart.js · Tailwind CSS · AURA Dashboard UI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4389120" y="146304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274320" y="1572768"/>
            <a:ext cx="8595360" cy="694944"/>
          </a:xfrm>
          <a:prstGeom prst="roundRect">
            <a:avLst>
              <a:gd fmla="val 7895" name="adj"/>
            </a:avLst>
          </a:prstGeom>
          <a:solidFill>
            <a:srgbClr val="151E2A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5"/>
          <p:cNvSpPr/>
          <p:nvPr/>
        </p:nvSpPr>
        <p:spPr>
          <a:xfrm>
            <a:off x="274320" y="1572768"/>
            <a:ext cx="8595360" cy="36576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5"/>
          <p:cNvSpPr/>
          <p:nvPr/>
        </p:nvSpPr>
        <p:spPr>
          <a:xfrm>
            <a:off x="457200" y="1645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API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457200" y="195681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FastAPI · SQLAlchemy · JWT Auth · ReportLab PDF · Uvicorn · SQLite Database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4389120" y="2286000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274320" y="2395728"/>
            <a:ext cx="8595360" cy="694944"/>
          </a:xfrm>
          <a:prstGeom prst="roundRect">
            <a:avLst>
              <a:gd fmla="val 7895" name="adj"/>
            </a:avLst>
          </a:prstGeom>
          <a:solidFill>
            <a:srgbClr val="151E2A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5"/>
          <p:cNvSpPr/>
          <p:nvPr/>
        </p:nvSpPr>
        <p:spPr>
          <a:xfrm>
            <a:off x="274320" y="2395728"/>
            <a:ext cx="8595360" cy="36576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5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AI / PROCESSING LAYER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5"/>
          <p:cNvSpPr/>
          <p:nvPr/>
        </p:nvSpPr>
        <p:spPr>
          <a:xfrm>
            <a:off x="457200" y="277977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YOLOv8n (Ultralytics) · OpenCV · Groq LLM (llama-3.3-70b) · NumPy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274320" y="3218688"/>
            <a:ext cx="877824" cy="475488"/>
          </a:xfrm>
          <a:prstGeom prst="roundRect">
            <a:avLst>
              <a:gd fmla="val 9615" name="adj"/>
            </a:avLst>
          </a:prstGeom>
          <a:solidFill>
            <a:srgbClr val="151E2A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5"/>
          <p:cNvSpPr/>
          <p:nvPr/>
        </p:nvSpPr>
        <p:spPr>
          <a:xfrm>
            <a:off x="274320" y="3218688"/>
            <a:ext cx="87782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Python 3.10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5"/>
          <p:cNvSpPr/>
          <p:nvPr/>
        </p:nvSpPr>
        <p:spPr>
          <a:xfrm>
            <a:off x="1243584" y="3218688"/>
            <a:ext cx="877824" cy="475488"/>
          </a:xfrm>
          <a:prstGeom prst="roundRect">
            <a:avLst>
              <a:gd fmla="val 9615" name="adj"/>
            </a:avLst>
          </a:prstGeom>
          <a:solidFill>
            <a:srgbClr val="151E2A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5"/>
          <p:cNvSpPr/>
          <p:nvPr/>
        </p:nvSpPr>
        <p:spPr>
          <a:xfrm>
            <a:off x="1243584" y="3218688"/>
            <a:ext cx="87782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5"/>
          <p:cNvSpPr/>
          <p:nvPr/>
        </p:nvSpPr>
        <p:spPr>
          <a:xfrm>
            <a:off x="2212848" y="3218688"/>
            <a:ext cx="877824" cy="475488"/>
          </a:xfrm>
          <a:prstGeom prst="roundRect">
            <a:avLst>
              <a:gd fmla="val 9615" name="adj"/>
            </a:avLst>
          </a:prstGeom>
          <a:solidFill>
            <a:srgbClr val="151E2A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5"/>
          <p:cNvSpPr/>
          <p:nvPr/>
        </p:nvSpPr>
        <p:spPr>
          <a:xfrm>
            <a:off x="2212848" y="3218688"/>
            <a:ext cx="87782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YOLOv8n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5"/>
          <p:cNvSpPr/>
          <p:nvPr/>
        </p:nvSpPr>
        <p:spPr>
          <a:xfrm>
            <a:off x="3182112" y="3218688"/>
            <a:ext cx="877824" cy="475488"/>
          </a:xfrm>
          <a:prstGeom prst="roundRect">
            <a:avLst>
              <a:gd fmla="val 9615" name="adj"/>
            </a:avLst>
          </a:prstGeom>
          <a:solidFill>
            <a:srgbClr val="151E2A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5"/>
          <p:cNvSpPr/>
          <p:nvPr/>
        </p:nvSpPr>
        <p:spPr>
          <a:xfrm>
            <a:off x="3182112" y="3218688"/>
            <a:ext cx="87782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OpenCV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4151376" y="3218688"/>
            <a:ext cx="877824" cy="475488"/>
          </a:xfrm>
          <a:prstGeom prst="roundRect">
            <a:avLst>
              <a:gd fmla="val 9615" name="adj"/>
            </a:avLst>
          </a:prstGeom>
          <a:solidFill>
            <a:srgbClr val="151E2A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5"/>
          <p:cNvSpPr/>
          <p:nvPr/>
        </p:nvSpPr>
        <p:spPr>
          <a:xfrm>
            <a:off x="4151376" y="3218688"/>
            <a:ext cx="87782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Groq LLM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5"/>
          <p:cNvSpPr/>
          <p:nvPr/>
        </p:nvSpPr>
        <p:spPr>
          <a:xfrm>
            <a:off x="5120640" y="3218688"/>
            <a:ext cx="877824" cy="475488"/>
          </a:xfrm>
          <a:prstGeom prst="roundRect">
            <a:avLst>
              <a:gd fmla="val 9615" name="adj"/>
            </a:avLst>
          </a:prstGeom>
          <a:solidFill>
            <a:srgbClr val="151E2A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5"/>
          <p:cNvSpPr/>
          <p:nvPr/>
        </p:nvSpPr>
        <p:spPr>
          <a:xfrm>
            <a:off x="5120640" y="3218688"/>
            <a:ext cx="87782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ReportLab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5"/>
          <p:cNvSpPr/>
          <p:nvPr/>
        </p:nvSpPr>
        <p:spPr>
          <a:xfrm>
            <a:off x="6089904" y="3218688"/>
            <a:ext cx="877824" cy="475488"/>
          </a:xfrm>
          <a:prstGeom prst="roundRect">
            <a:avLst>
              <a:gd fmla="val 9615" name="adj"/>
            </a:avLst>
          </a:prstGeom>
          <a:solidFill>
            <a:srgbClr val="151E2A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5"/>
          <p:cNvSpPr/>
          <p:nvPr/>
        </p:nvSpPr>
        <p:spPr>
          <a:xfrm>
            <a:off x="6089904" y="3218688"/>
            <a:ext cx="87782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SQLite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5"/>
          <p:cNvSpPr/>
          <p:nvPr/>
        </p:nvSpPr>
        <p:spPr>
          <a:xfrm>
            <a:off x="7059168" y="3218688"/>
            <a:ext cx="877824" cy="475488"/>
          </a:xfrm>
          <a:prstGeom prst="roundRect">
            <a:avLst>
              <a:gd fmla="val 9615" name="adj"/>
            </a:avLst>
          </a:prstGeom>
          <a:solidFill>
            <a:srgbClr val="151E2A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5"/>
          <p:cNvSpPr/>
          <p:nvPr/>
        </p:nvSpPr>
        <p:spPr>
          <a:xfrm>
            <a:off x="7059168" y="3218688"/>
            <a:ext cx="87782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JWT/bcrypt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8028432" y="3218688"/>
            <a:ext cx="877824" cy="475488"/>
          </a:xfrm>
          <a:prstGeom prst="roundRect">
            <a:avLst>
              <a:gd fmla="val 9615" name="adj"/>
            </a:avLst>
          </a:prstGeom>
          <a:solidFill>
            <a:srgbClr val="151E2A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5"/>
          <p:cNvSpPr/>
          <p:nvPr/>
        </p:nvSpPr>
        <p:spPr>
          <a:xfrm>
            <a:off x="8028432" y="3218688"/>
            <a:ext cx="877824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Chart.js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5"/>
          <p:cNvSpPr/>
          <p:nvPr/>
        </p:nvSpPr>
        <p:spPr>
          <a:xfrm>
            <a:off x="274320" y="3803904"/>
            <a:ext cx="2743200" cy="1115568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 cap="flat" cmpd="sng" w="12700">
            <a:solidFill>
              <a:srgbClr val="3B82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5"/>
          <p:cNvSpPr/>
          <p:nvPr/>
        </p:nvSpPr>
        <p:spPr>
          <a:xfrm>
            <a:off x="3200400" y="3803904"/>
            <a:ext cx="2743200" cy="1115568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 cap="flat" cmpd="sng" w="12700">
            <a:solidFill>
              <a:srgbClr val="3B82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5"/>
          <p:cNvSpPr/>
          <p:nvPr/>
        </p:nvSpPr>
        <p:spPr>
          <a:xfrm>
            <a:off x="6126480" y="3803904"/>
            <a:ext cx="2743200" cy="1115568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 cap="flat" cmpd="sng" w="12700">
            <a:solidFill>
              <a:srgbClr val="3B82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jpg" id="271" name="Google Shape;27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3803904"/>
            <a:ext cx="2743200" cy="11155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jpg" id="272" name="Google Shape;27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0" y="3803904"/>
            <a:ext cx="2743200" cy="11155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jpg" id="273" name="Google Shape;27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6480" y="3803904"/>
            <a:ext cx="2743200" cy="1115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23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6"/>
          <p:cNvSpPr/>
          <p:nvPr/>
        </p:nvSpPr>
        <p:spPr>
          <a:xfrm>
            <a:off x="164592" y="128016"/>
            <a:ext cx="274320" cy="3200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6"/>
          <p:cNvSpPr/>
          <p:nvPr/>
        </p:nvSpPr>
        <p:spPr>
          <a:xfrm>
            <a:off x="164592" y="128016"/>
            <a:ext cx="32004" cy="201168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6"/>
          <p:cNvSpPr/>
          <p:nvPr/>
        </p:nvSpPr>
        <p:spPr>
          <a:xfrm>
            <a:off x="8705088" y="128016"/>
            <a:ext cx="274320" cy="3200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6"/>
          <p:cNvSpPr/>
          <p:nvPr/>
        </p:nvSpPr>
        <p:spPr>
          <a:xfrm>
            <a:off x="8947404" y="128016"/>
            <a:ext cx="32004" cy="201168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6"/>
          <p:cNvSpPr/>
          <p:nvPr/>
        </p:nvSpPr>
        <p:spPr>
          <a:xfrm>
            <a:off x="164592" y="5029200"/>
            <a:ext cx="274320" cy="3200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6"/>
          <p:cNvSpPr/>
          <p:nvPr/>
        </p:nvSpPr>
        <p:spPr>
          <a:xfrm>
            <a:off x="164592" y="4846320"/>
            <a:ext cx="32004" cy="219456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6"/>
          <p:cNvSpPr/>
          <p:nvPr/>
        </p:nvSpPr>
        <p:spPr>
          <a:xfrm>
            <a:off x="8705088" y="5029200"/>
            <a:ext cx="274320" cy="3200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6"/>
          <p:cNvSpPr/>
          <p:nvPr/>
        </p:nvSpPr>
        <p:spPr>
          <a:xfrm>
            <a:off x="8947404" y="4846320"/>
            <a:ext cx="32004" cy="219456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6"/>
          <p:cNvSpPr/>
          <p:nvPr/>
        </p:nvSpPr>
        <p:spPr>
          <a:xfrm>
            <a:off x="0" y="5120640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AURA — Neural Intelligence Platform  ·  Ghinwa Allaoui &amp; Riam Abbas  ·  2025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6"/>
          <p:cNvSpPr/>
          <p:nvPr/>
        </p:nvSpPr>
        <p:spPr>
          <a:xfrm>
            <a:off x="274320" y="137160"/>
            <a:ext cx="1645920" cy="292608"/>
          </a:xfrm>
          <a:prstGeom prst="roundRect">
            <a:avLst>
              <a:gd fmla="val 15625" name="adj"/>
            </a:avLst>
          </a:prstGeom>
          <a:solidFill>
            <a:srgbClr val="3B82F6">
              <a:alpha val="20000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6"/>
          <p:cNvSpPr/>
          <p:nvPr/>
        </p:nvSpPr>
        <p:spPr>
          <a:xfrm>
            <a:off x="274320" y="13716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6"/>
          <p:cNvSpPr/>
          <p:nvPr/>
        </p:nvSpPr>
        <p:spPr>
          <a:xfrm>
            <a:off x="2011680" y="109728"/>
            <a:ext cx="6858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Features — Authentication &amp; Dashboard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6"/>
          <p:cNvSpPr/>
          <p:nvPr/>
        </p:nvSpPr>
        <p:spPr>
          <a:xfrm>
            <a:off x="274320" y="713232"/>
            <a:ext cx="3291840" cy="1773936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 cap="flat" cmpd="sng" w="12700">
            <a:solidFill>
              <a:srgbClr val="3B82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6"/>
          <p:cNvSpPr/>
          <p:nvPr/>
        </p:nvSpPr>
        <p:spPr>
          <a:xfrm>
            <a:off x="274320" y="2596896"/>
            <a:ext cx="3291840" cy="1773936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 cap="flat" cmpd="sng" w="12700">
            <a:solidFill>
              <a:srgbClr val="3B82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6"/>
          <p:cNvSpPr/>
          <p:nvPr/>
        </p:nvSpPr>
        <p:spPr>
          <a:xfrm>
            <a:off x="3749040" y="713232"/>
            <a:ext cx="5120640" cy="969264"/>
          </a:xfrm>
          <a:prstGeom prst="roundRect">
            <a:avLst>
              <a:gd fmla="val 6604" name="adj"/>
            </a:avLst>
          </a:prstGeom>
          <a:solidFill>
            <a:srgbClr val="151E2A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6"/>
          <p:cNvSpPr/>
          <p:nvPr/>
        </p:nvSpPr>
        <p:spPr>
          <a:xfrm>
            <a:off x="3749040" y="713232"/>
            <a:ext cx="45720" cy="96926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6"/>
          <p:cNvSpPr/>
          <p:nvPr/>
        </p:nvSpPr>
        <p:spPr>
          <a:xfrm>
            <a:off x="3840480" y="786384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4389120" y="804672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JWT Authentication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4389120" y="1133856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Register / Login / Guest mode with 24h token expiry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6"/>
          <p:cNvSpPr/>
          <p:nvPr/>
        </p:nvSpPr>
        <p:spPr>
          <a:xfrm>
            <a:off x="3749040" y="1828800"/>
            <a:ext cx="5120640" cy="969264"/>
          </a:xfrm>
          <a:prstGeom prst="roundRect">
            <a:avLst>
              <a:gd fmla="val 6604" name="adj"/>
            </a:avLst>
          </a:prstGeom>
          <a:solidFill>
            <a:srgbClr val="151E2A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6"/>
          <p:cNvSpPr/>
          <p:nvPr/>
        </p:nvSpPr>
        <p:spPr>
          <a:xfrm>
            <a:off x="3749040" y="1828800"/>
            <a:ext cx="45720" cy="96926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6"/>
          <p:cNvSpPr/>
          <p:nvPr/>
        </p:nvSpPr>
        <p:spPr>
          <a:xfrm>
            <a:off x="3840480" y="1901952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🛡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4389120" y="192024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bcrypt Password Hashing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6"/>
          <p:cNvSpPr/>
          <p:nvPr/>
        </p:nvSpPr>
        <p:spPr>
          <a:xfrm>
            <a:off x="4389120" y="2249424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Industry-standard secure password storage via passlib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3749040" y="2944368"/>
            <a:ext cx="5120640" cy="969264"/>
          </a:xfrm>
          <a:prstGeom prst="roundRect">
            <a:avLst>
              <a:gd fmla="val 6604" name="adj"/>
            </a:avLst>
          </a:prstGeom>
          <a:solidFill>
            <a:srgbClr val="151E2A"/>
          </a:solidFill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6"/>
          <p:cNvSpPr/>
          <p:nvPr/>
        </p:nvSpPr>
        <p:spPr>
          <a:xfrm>
            <a:off x="3749040" y="2944368"/>
            <a:ext cx="45720" cy="969264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6"/>
          <p:cNvSpPr/>
          <p:nvPr/>
        </p:nvSpPr>
        <p:spPr>
          <a:xfrm>
            <a:off x="3840480" y="301752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6"/>
          <p:cNvSpPr/>
          <p:nvPr/>
        </p:nvSpPr>
        <p:spPr>
          <a:xfrm>
            <a:off x="4389120" y="3035808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Role-Based Access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4389120" y="3364992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Admin / Analyst / Viewer roles stored in SQLite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6"/>
          <p:cNvSpPr/>
          <p:nvPr/>
        </p:nvSpPr>
        <p:spPr>
          <a:xfrm>
            <a:off x="3749040" y="4059936"/>
            <a:ext cx="5120640" cy="969264"/>
          </a:xfrm>
          <a:prstGeom prst="roundRect">
            <a:avLst>
              <a:gd fmla="val 6604" name="adj"/>
            </a:avLst>
          </a:prstGeom>
          <a:solidFill>
            <a:srgbClr val="151E2A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6"/>
          <p:cNvSpPr/>
          <p:nvPr/>
        </p:nvSpPr>
        <p:spPr>
          <a:xfrm>
            <a:off x="3749040" y="4059936"/>
            <a:ext cx="45720" cy="9692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6"/>
          <p:cNvSpPr/>
          <p:nvPr/>
        </p:nvSpPr>
        <p:spPr>
          <a:xfrm>
            <a:off x="3840480" y="4133088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4389120" y="4151376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Live Dashboard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6"/>
          <p:cNvSpPr/>
          <p:nvPr/>
        </p:nvSpPr>
        <p:spPr>
          <a:xfrm>
            <a:off x="4389120" y="4480560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threat charts, scan stats, and intelligence log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hatsApp_Image_2026-05-09_at_12_50_29_PM.jpeg" id="313" name="Google Shape;31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713232"/>
            <a:ext cx="3291840" cy="17739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hatsApp_Image_2026-05-09_at_12_50_51_PM.jpeg" id="314" name="Google Shape;31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596896"/>
            <a:ext cx="3291840" cy="1773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23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7"/>
          <p:cNvSpPr/>
          <p:nvPr/>
        </p:nvSpPr>
        <p:spPr>
          <a:xfrm>
            <a:off x="164592" y="128016"/>
            <a:ext cx="274320" cy="3200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7"/>
          <p:cNvSpPr/>
          <p:nvPr/>
        </p:nvSpPr>
        <p:spPr>
          <a:xfrm>
            <a:off x="164592" y="128016"/>
            <a:ext cx="32004" cy="201168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7"/>
          <p:cNvSpPr/>
          <p:nvPr/>
        </p:nvSpPr>
        <p:spPr>
          <a:xfrm>
            <a:off x="8705088" y="128016"/>
            <a:ext cx="274320" cy="3200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7"/>
          <p:cNvSpPr/>
          <p:nvPr/>
        </p:nvSpPr>
        <p:spPr>
          <a:xfrm>
            <a:off x="8947404" y="128016"/>
            <a:ext cx="32004" cy="201168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7"/>
          <p:cNvSpPr/>
          <p:nvPr/>
        </p:nvSpPr>
        <p:spPr>
          <a:xfrm>
            <a:off x="164592" y="5029200"/>
            <a:ext cx="274320" cy="3200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7"/>
          <p:cNvSpPr/>
          <p:nvPr/>
        </p:nvSpPr>
        <p:spPr>
          <a:xfrm>
            <a:off x="164592" y="4846320"/>
            <a:ext cx="32004" cy="219456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7"/>
          <p:cNvSpPr/>
          <p:nvPr/>
        </p:nvSpPr>
        <p:spPr>
          <a:xfrm>
            <a:off x="8705088" y="5029200"/>
            <a:ext cx="274320" cy="3200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7"/>
          <p:cNvSpPr/>
          <p:nvPr/>
        </p:nvSpPr>
        <p:spPr>
          <a:xfrm>
            <a:off x="8947404" y="4846320"/>
            <a:ext cx="32004" cy="219456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7"/>
          <p:cNvSpPr/>
          <p:nvPr/>
        </p:nvSpPr>
        <p:spPr>
          <a:xfrm>
            <a:off x="0" y="5120640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AURA — Neural Intelligence Platform  ·  Ghinwa Allaoui &amp; Riam Abbas  ·  2025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7"/>
          <p:cNvSpPr/>
          <p:nvPr/>
        </p:nvSpPr>
        <p:spPr>
          <a:xfrm>
            <a:off x="274320" y="137160"/>
            <a:ext cx="1645920" cy="292608"/>
          </a:xfrm>
          <a:prstGeom prst="roundRect">
            <a:avLst>
              <a:gd fmla="val 15625" name="adj"/>
            </a:avLst>
          </a:prstGeom>
          <a:solidFill>
            <a:srgbClr val="3B82F6">
              <a:alpha val="20000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7"/>
          <p:cNvSpPr/>
          <p:nvPr/>
        </p:nvSpPr>
        <p:spPr>
          <a:xfrm>
            <a:off x="274320" y="13716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7"/>
          <p:cNvSpPr/>
          <p:nvPr/>
        </p:nvSpPr>
        <p:spPr>
          <a:xfrm>
            <a:off x="2011680" y="109728"/>
            <a:ext cx="6858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Dashboard — Real-Time Intelligence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7"/>
          <p:cNvSpPr/>
          <p:nvPr/>
        </p:nvSpPr>
        <p:spPr>
          <a:xfrm>
            <a:off x="274320" y="713232"/>
            <a:ext cx="8595360" cy="4133088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 cap="flat" cmpd="sng" w="12700">
            <a:solidFill>
              <a:srgbClr val="3B82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7"/>
          <p:cNvSpPr/>
          <p:nvPr/>
        </p:nvSpPr>
        <p:spPr>
          <a:xfrm>
            <a:off x="1371600" y="914400"/>
            <a:ext cx="1371600" cy="228600"/>
          </a:xfrm>
          <a:prstGeom prst="roundRect">
            <a:avLst>
              <a:gd fmla="val 16000" name="adj"/>
            </a:avLst>
          </a:prstGeom>
          <a:solidFill>
            <a:srgbClr val="0D1117">
              <a:alpha val="80000"/>
            </a:srgbClr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7"/>
          <p:cNvSpPr/>
          <p:nvPr/>
        </p:nvSpPr>
        <p:spPr>
          <a:xfrm>
            <a:off x="1371600" y="9144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Online Status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7"/>
          <p:cNvSpPr/>
          <p:nvPr/>
        </p:nvSpPr>
        <p:spPr>
          <a:xfrm>
            <a:off x="3474720" y="914400"/>
            <a:ext cx="1371600" cy="228600"/>
          </a:xfrm>
          <a:prstGeom prst="roundRect">
            <a:avLst>
              <a:gd fmla="val 16000" name="adj"/>
            </a:avLst>
          </a:prstGeom>
          <a:solidFill>
            <a:srgbClr val="0D1117">
              <a:alpha val="80000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7"/>
          <p:cNvSpPr/>
          <p:nvPr/>
        </p:nvSpPr>
        <p:spPr>
          <a:xfrm>
            <a:off x="3474720" y="9144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Threat Stats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7"/>
          <p:cNvSpPr/>
          <p:nvPr/>
        </p:nvSpPr>
        <p:spPr>
          <a:xfrm>
            <a:off x="6583680" y="914400"/>
            <a:ext cx="1371600" cy="228600"/>
          </a:xfrm>
          <a:prstGeom prst="roundRect">
            <a:avLst>
              <a:gd fmla="val 16000" name="adj"/>
            </a:avLst>
          </a:prstGeom>
          <a:solidFill>
            <a:srgbClr val="0D1117">
              <a:alpha val="80000"/>
            </a:srgbClr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7"/>
          <p:cNvSpPr/>
          <p:nvPr/>
        </p:nvSpPr>
        <p:spPr>
          <a:xfrm>
            <a:off x="6583680" y="91440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User Profile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7"/>
          <p:cNvSpPr/>
          <p:nvPr/>
        </p:nvSpPr>
        <p:spPr>
          <a:xfrm>
            <a:off x="1371600" y="4389120"/>
            <a:ext cx="1371600" cy="228600"/>
          </a:xfrm>
          <a:prstGeom prst="roundRect">
            <a:avLst>
              <a:gd fmla="val 16000" name="adj"/>
            </a:avLst>
          </a:prstGeom>
          <a:solidFill>
            <a:srgbClr val="0D1117">
              <a:alpha val="80000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7"/>
          <p:cNvSpPr/>
          <p:nvPr/>
        </p:nvSpPr>
        <p:spPr>
          <a:xfrm>
            <a:off x="1371600" y="438912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Threat Charts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7"/>
          <p:cNvSpPr/>
          <p:nvPr/>
        </p:nvSpPr>
        <p:spPr>
          <a:xfrm>
            <a:off x="6400800" y="4389120"/>
            <a:ext cx="1371600" cy="228600"/>
          </a:xfrm>
          <a:prstGeom prst="roundRect">
            <a:avLst>
              <a:gd fmla="val 16000" name="adj"/>
            </a:avLst>
          </a:prstGeom>
          <a:solidFill>
            <a:srgbClr val="0D1117">
              <a:alpha val="80000"/>
            </a:srgbClr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7"/>
          <p:cNvSpPr/>
          <p:nvPr/>
        </p:nvSpPr>
        <p:spPr>
          <a:xfrm>
            <a:off x="6400800" y="438912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Intelligence Log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jpg" id="343" name="Google Shape;34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713232"/>
            <a:ext cx="8595360" cy="4133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23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8"/>
          <p:cNvSpPr/>
          <p:nvPr/>
        </p:nvSpPr>
        <p:spPr>
          <a:xfrm>
            <a:off x="164592" y="128016"/>
            <a:ext cx="274320" cy="32004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8"/>
          <p:cNvSpPr/>
          <p:nvPr/>
        </p:nvSpPr>
        <p:spPr>
          <a:xfrm>
            <a:off x="164592" y="128016"/>
            <a:ext cx="32004" cy="201168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8"/>
          <p:cNvSpPr/>
          <p:nvPr/>
        </p:nvSpPr>
        <p:spPr>
          <a:xfrm>
            <a:off x="8705088" y="128016"/>
            <a:ext cx="274320" cy="32004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8"/>
          <p:cNvSpPr/>
          <p:nvPr/>
        </p:nvSpPr>
        <p:spPr>
          <a:xfrm>
            <a:off x="8947404" y="128016"/>
            <a:ext cx="32004" cy="201168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8"/>
          <p:cNvSpPr/>
          <p:nvPr/>
        </p:nvSpPr>
        <p:spPr>
          <a:xfrm>
            <a:off x="164592" y="5029200"/>
            <a:ext cx="274320" cy="32004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8"/>
          <p:cNvSpPr/>
          <p:nvPr/>
        </p:nvSpPr>
        <p:spPr>
          <a:xfrm>
            <a:off x="164592" y="4846320"/>
            <a:ext cx="32004" cy="219456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8"/>
          <p:cNvSpPr/>
          <p:nvPr/>
        </p:nvSpPr>
        <p:spPr>
          <a:xfrm>
            <a:off x="8705088" y="5029200"/>
            <a:ext cx="274320" cy="32004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8"/>
          <p:cNvSpPr/>
          <p:nvPr/>
        </p:nvSpPr>
        <p:spPr>
          <a:xfrm>
            <a:off x="8947404" y="4846320"/>
            <a:ext cx="32004" cy="219456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8"/>
          <p:cNvSpPr/>
          <p:nvPr/>
        </p:nvSpPr>
        <p:spPr>
          <a:xfrm>
            <a:off x="0" y="5120640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AURA — Neural Intelligence Platform  ·  Ghinwa Allaoui &amp; Riam Abbas  ·  2025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274320" y="137160"/>
            <a:ext cx="1645920" cy="292608"/>
          </a:xfrm>
          <a:prstGeom prst="roundRect">
            <a:avLst>
              <a:gd fmla="val 15625" name="adj"/>
            </a:avLst>
          </a:prstGeom>
          <a:solidFill>
            <a:srgbClr val="8B5CF6">
              <a:alpha val="20000"/>
            </a:srgbClr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8"/>
          <p:cNvSpPr/>
          <p:nvPr/>
        </p:nvSpPr>
        <p:spPr>
          <a:xfrm>
            <a:off x="274320" y="13716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2011680" y="109728"/>
            <a:ext cx="6858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Features — Text Intelligence (Arabic/English)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274320" y="713232"/>
            <a:ext cx="4206240" cy="2231136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 cap="flat" cmpd="sng" w="12700">
            <a:solidFill>
              <a:srgbClr val="3B82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8"/>
          <p:cNvSpPr/>
          <p:nvPr/>
        </p:nvSpPr>
        <p:spPr>
          <a:xfrm>
            <a:off x="4663440" y="713232"/>
            <a:ext cx="4206240" cy="2231136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 cap="flat" cmpd="sng" w="12700">
            <a:solidFill>
              <a:srgbClr val="3B82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8"/>
          <p:cNvSpPr/>
          <p:nvPr/>
        </p:nvSpPr>
        <p:spPr>
          <a:xfrm>
            <a:off x="274320" y="3017520"/>
            <a:ext cx="4206240" cy="274320"/>
          </a:xfrm>
          <a:prstGeom prst="roundRect">
            <a:avLst>
              <a:gd fmla="val 13333" name="adj"/>
            </a:avLst>
          </a:prstGeom>
          <a:solidFill>
            <a:srgbClr val="151E2A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8"/>
          <p:cNvSpPr/>
          <p:nvPr/>
        </p:nvSpPr>
        <p:spPr>
          <a:xfrm>
            <a:off x="274320" y="301752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Arabic threat text input + Groq API key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8"/>
          <p:cNvSpPr/>
          <p:nvPr/>
        </p:nvSpPr>
        <p:spPr>
          <a:xfrm>
            <a:off x="4663440" y="3017520"/>
            <a:ext cx="4206240" cy="274320"/>
          </a:xfrm>
          <a:prstGeom prst="roundRect">
            <a:avLst>
              <a:gd fmla="val 13333" name="adj"/>
            </a:avLst>
          </a:prstGeom>
          <a:solidFill>
            <a:srgbClr val="151E2A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8"/>
          <p:cNvSpPr/>
          <p:nvPr/>
        </p:nvSpPr>
        <p:spPr>
          <a:xfrm>
            <a:off x="4663440" y="301752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DANGER result: aggression 80%, urgency 90%, entities extracted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8"/>
          <p:cNvSpPr/>
          <p:nvPr/>
        </p:nvSpPr>
        <p:spPr>
          <a:xfrm>
            <a:off x="347472" y="3456432"/>
            <a:ext cx="146304" cy="146304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8"/>
          <p:cNvSpPr/>
          <p:nvPr/>
        </p:nvSpPr>
        <p:spPr>
          <a:xfrm>
            <a:off x="594360" y="3401568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Any language — Arabic, English, French, and more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347472" y="3767328"/>
            <a:ext cx="146304" cy="146304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8"/>
          <p:cNvSpPr/>
          <p:nvPr/>
        </p:nvSpPr>
        <p:spPr>
          <a:xfrm>
            <a:off x="594360" y="3712464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Groq llama-3.3-70b model — fast &amp; free API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8"/>
          <p:cNvSpPr/>
          <p:nvPr/>
        </p:nvSpPr>
        <p:spPr>
          <a:xfrm>
            <a:off x="347472" y="4078224"/>
            <a:ext cx="146304" cy="146304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8"/>
          <p:cNvSpPr/>
          <p:nvPr/>
        </p:nvSpPr>
        <p:spPr>
          <a:xfrm>
            <a:off x="594360" y="402336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Sentiment scores: Aggression · Urgency · Deception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8"/>
          <p:cNvSpPr/>
          <p:nvPr/>
        </p:nvSpPr>
        <p:spPr>
          <a:xfrm>
            <a:off x="347472" y="4389120"/>
            <a:ext cx="146304" cy="146304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8"/>
          <p:cNvSpPr/>
          <p:nvPr/>
        </p:nvSpPr>
        <p:spPr>
          <a:xfrm>
            <a:off x="594360" y="4334256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Named entity extraction: persons, locations, organizations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8"/>
          <p:cNvSpPr/>
          <p:nvPr/>
        </p:nvSpPr>
        <p:spPr>
          <a:xfrm>
            <a:off x="347472" y="4700016"/>
            <a:ext cx="146304" cy="146304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8"/>
          <p:cNvSpPr/>
          <p:nvPr/>
        </p:nvSpPr>
        <p:spPr>
          <a:xfrm>
            <a:off x="594360" y="464515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4-level threat output: SAFE / CAUTION / DANGER / CRITICAL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jpg" id="377" name="Google Shape;37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713232"/>
            <a:ext cx="4206240" cy="22311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jpg" id="378" name="Google Shape;37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713232"/>
            <a:ext cx="4206240" cy="2231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g3dfe49f5234_0_2" title="photo_2026-05-09_19-41-3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661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23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9"/>
          <p:cNvSpPr/>
          <p:nvPr/>
        </p:nvSpPr>
        <p:spPr>
          <a:xfrm>
            <a:off x="164592" y="128016"/>
            <a:ext cx="274320" cy="3200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9"/>
          <p:cNvSpPr/>
          <p:nvPr/>
        </p:nvSpPr>
        <p:spPr>
          <a:xfrm>
            <a:off x="164592" y="128016"/>
            <a:ext cx="32004" cy="20116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9"/>
          <p:cNvSpPr/>
          <p:nvPr/>
        </p:nvSpPr>
        <p:spPr>
          <a:xfrm>
            <a:off x="8705088" y="128016"/>
            <a:ext cx="274320" cy="3200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9"/>
          <p:cNvSpPr/>
          <p:nvPr/>
        </p:nvSpPr>
        <p:spPr>
          <a:xfrm>
            <a:off x="8947404" y="128016"/>
            <a:ext cx="32004" cy="20116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9"/>
          <p:cNvSpPr/>
          <p:nvPr/>
        </p:nvSpPr>
        <p:spPr>
          <a:xfrm>
            <a:off x="164592" y="5029200"/>
            <a:ext cx="274320" cy="3200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9"/>
          <p:cNvSpPr/>
          <p:nvPr/>
        </p:nvSpPr>
        <p:spPr>
          <a:xfrm>
            <a:off x="164592" y="4846320"/>
            <a:ext cx="32004" cy="219456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9"/>
          <p:cNvSpPr/>
          <p:nvPr/>
        </p:nvSpPr>
        <p:spPr>
          <a:xfrm>
            <a:off x="8705088" y="5029200"/>
            <a:ext cx="274320" cy="3200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9"/>
          <p:cNvSpPr/>
          <p:nvPr/>
        </p:nvSpPr>
        <p:spPr>
          <a:xfrm>
            <a:off x="8947404" y="4846320"/>
            <a:ext cx="32004" cy="219456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9"/>
          <p:cNvSpPr/>
          <p:nvPr/>
        </p:nvSpPr>
        <p:spPr>
          <a:xfrm>
            <a:off x="0" y="5120640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AURA — Neural Intelligence Platform  ·  Ghinwa Allaoui &amp; Riam Abbas  ·  2025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9"/>
          <p:cNvSpPr/>
          <p:nvPr/>
        </p:nvSpPr>
        <p:spPr>
          <a:xfrm>
            <a:off x="274320" y="137160"/>
            <a:ext cx="1645920" cy="292608"/>
          </a:xfrm>
          <a:prstGeom prst="roundRect">
            <a:avLst>
              <a:gd fmla="val 15625" name="adj"/>
            </a:avLst>
          </a:prstGeom>
          <a:solidFill>
            <a:srgbClr val="10B981">
              <a:alpha val="20000"/>
            </a:srgbClr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9"/>
          <p:cNvSpPr/>
          <p:nvPr/>
        </p:nvSpPr>
        <p:spPr>
          <a:xfrm>
            <a:off x="274320" y="13716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2011680" y="109728"/>
            <a:ext cx="6858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Features — Image &amp; Video Intelligence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9"/>
          <p:cNvSpPr/>
          <p:nvPr/>
        </p:nvSpPr>
        <p:spPr>
          <a:xfrm>
            <a:off x="274320" y="713232"/>
            <a:ext cx="4114800" cy="4114800"/>
          </a:xfrm>
          <a:prstGeom prst="roundRect">
            <a:avLst>
              <a:gd fmla="val 1556" name="adj"/>
            </a:avLst>
          </a:prstGeom>
          <a:solidFill>
            <a:srgbClr val="151E2A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9"/>
          <p:cNvSpPr/>
          <p:nvPr/>
        </p:nvSpPr>
        <p:spPr>
          <a:xfrm>
            <a:off x="274320" y="713232"/>
            <a:ext cx="4114800" cy="36576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9"/>
          <p:cNvSpPr/>
          <p:nvPr/>
        </p:nvSpPr>
        <p:spPr>
          <a:xfrm>
            <a:off x="457200" y="80467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IMAGE INTELLIGENCE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9"/>
          <p:cNvSpPr/>
          <p:nvPr/>
        </p:nvSpPr>
        <p:spPr>
          <a:xfrm>
            <a:off x="411480" y="1170432"/>
            <a:ext cx="3840480" cy="1645920"/>
          </a:xfrm>
          <a:prstGeom prst="roundRect">
            <a:avLst>
              <a:gd fmla="val 2222" name="adj"/>
            </a:avLst>
          </a:prstGeom>
          <a:solidFill>
            <a:srgbClr val="0D1117"/>
          </a:solidFill>
          <a:ln cap="flat" cmpd="sng" w="12700">
            <a:solidFill>
              <a:srgbClr val="10B981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9"/>
          <p:cNvSpPr/>
          <p:nvPr/>
        </p:nvSpPr>
        <p:spPr>
          <a:xfrm>
            <a:off x="640080" y="1298448"/>
            <a:ext cx="868680" cy="1097280"/>
          </a:xfrm>
          <a:prstGeom prst="rect">
            <a:avLst/>
          </a:prstGeom>
          <a:solidFill>
            <a:srgbClr val="000000"/>
          </a:solidFill>
          <a:ln cap="flat" cmpd="sng" w="254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9"/>
          <p:cNvSpPr/>
          <p:nvPr/>
        </p:nvSpPr>
        <p:spPr>
          <a:xfrm>
            <a:off x="621792" y="1243584"/>
            <a:ext cx="868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knife 87%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9"/>
          <p:cNvSpPr/>
          <p:nvPr/>
        </p:nvSpPr>
        <p:spPr>
          <a:xfrm>
            <a:off x="1691640" y="1353312"/>
            <a:ext cx="1097280" cy="1188720"/>
          </a:xfrm>
          <a:prstGeom prst="rect">
            <a:avLst/>
          </a:prstGeom>
          <a:solidFill>
            <a:srgbClr val="000000"/>
          </a:solidFill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9"/>
          <p:cNvSpPr/>
          <p:nvPr/>
        </p:nvSpPr>
        <p:spPr>
          <a:xfrm>
            <a:off x="1673352" y="129844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person 91%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9"/>
          <p:cNvSpPr/>
          <p:nvPr/>
        </p:nvSpPr>
        <p:spPr>
          <a:xfrm>
            <a:off x="411480" y="24688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[ YOLO Detection Preview — PNG/JPG/WEBP 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9"/>
          <p:cNvSpPr/>
          <p:nvPr/>
        </p:nvSpPr>
        <p:spPr>
          <a:xfrm>
            <a:off x="438912" y="2907792"/>
            <a:ext cx="128016" cy="128016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9"/>
          <p:cNvSpPr/>
          <p:nvPr/>
        </p:nvSpPr>
        <p:spPr>
          <a:xfrm>
            <a:off x="658368" y="2852928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PNG / JPG / WEBP upload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9"/>
          <p:cNvSpPr/>
          <p:nvPr/>
        </p:nvSpPr>
        <p:spPr>
          <a:xfrm>
            <a:off x="438912" y="3255264"/>
            <a:ext cx="128016" cy="128016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9"/>
          <p:cNvSpPr/>
          <p:nvPr/>
        </p:nvSpPr>
        <p:spPr>
          <a:xfrm>
            <a:off x="658368" y="320040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80+ COCO object classes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9"/>
          <p:cNvSpPr/>
          <p:nvPr/>
        </p:nvSpPr>
        <p:spPr>
          <a:xfrm>
            <a:off x="438912" y="3602736"/>
            <a:ext cx="128016" cy="128016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9"/>
          <p:cNvSpPr/>
          <p:nvPr/>
        </p:nvSpPr>
        <p:spPr>
          <a:xfrm>
            <a:off x="658368" y="354787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Bounding boxes + confidence 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9"/>
          <p:cNvSpPr/>
          <p:nvPr/>
        </p:nvSpPr>
        <p:spPr>
          <a:xfrm>
            <a:off x="438912" y="3950208"/>
            <a:ext cx="128016" cy="128016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9"/>
          <p:cNvSpPr/>
          <p:nvPr/>
        </p:nvSpPr>
        <p:spPr>
          <a:xfrm>
            <a:off x="658368" y="3895344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SAFE / CAUTION / DANGER / CRITICAL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9"/>
          <p:cNvSpPr/>
          <p:nvPr/>
        </p:nvSpPr>
        <p:spPr>
          <a:xfrm>
            <a:off x="438912" y="4297680"/>
            <a:ext cx="128016" cy="128016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9"/>
          <p:cNvSpPr/>
          <p:nvPr/>
        </p:nvSpPr>
        <p:spPr>
          <a:xfrm>
            <a:off x="658368" y="4242816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Weapon + person → auto CRITICAL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9"/>
          <p:cNvSpPr/>
          <p:nvPr/>
        </p:nvSpPr>
        <p:spPr>
          <a:xfrm>
            <a:off x="4754880" y="713232"/>
            <a:ext cx="4114800" cy="4114800"/>
          </a:xfrm>
          <a:prstGeom prst="roundRect">
            <a:avLst>
              <a:gd fmla="val 1556" name="adj"/>
            </a:avLst>
          </a:prstGeom>
          <a:solidFill>
            <a:srgbClr val="151E2A"/>
          </a:solidFill>
          <a:ln cap="flat" cmpd="sng" w="1905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9"/>
          <p:cNvSpPr/>
          <p:nvPr/>
        </p:nvSpPr>
        <p:spPr>
          <a:xfrm>
            <a:off x="4754880" y="713232"/>
            <a:ext cx="4114800" cy="36576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9"/>
          <p:cNvSpPr/>
          <p:nvPr/>
        </p:nvSpPr>
        <p:spPr>
          <a:xfrm>
            <a:off x="4919472" y="80467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VIDEO INTELLIGENCE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9"/>
          <p:cNvSpPr/>
          <p:nvPr/>
        </p:nvSpPr>
        <p:spPr>
          <a:xfrm>
            <a:off x="4892040" y="1170432"/>
            <a:ext cx="3840480" cy="365760"/>
          </a:xfrm>
          <a:prstGeom prst="roundRect">
            <a:avLst>
              <a:gd fmla="val 10000" name="adj"/>
            </a:avLst>
          </a:prstGeom>
          <a:solidFill>
            <a:srgbClr val="0D1117"/>
          </a:solidFill>
          <a:ln cap="flat" cmpd="sng" w="12700">
            <a:solidFill>
              <a:srgbClr val="06B6D4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9"/>
          <p:cNvSpPr/>
          <p:nvPr/>
        </p:nvSpPr>
        <p:spPr>
          <a:xfrm>
            <a:off x="4919472" y="1170432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650"/>
              <a:buFont typeface="Calibri"/>
              <a:buNone/>
            </a:pPr>
            <a:r>
              <a:rPr b="0" i="0" lang="en-US" sz="65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THREAT TIMELINE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9"/>
          <p:cNvSpPr/>
          <p:nvPr/>
        </p:nvSpPr>
        <p:spPr>
          <a:xfrm>
            <a:off x="4919472" y="1335024"/>
            <a:ext cx="347472" cy="164592"/>
          </a:xfrm>
          <a:prstGeom prst="rect">
            <a:avLst/>
          </a:prstGeom>
          <a:solidFill>
            <a:srgbClr val="10B981">
              <a:alpha val="74901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9"/>
          <p:cNvSpPr/>
          <p:nvPr/>
        </p:nvSpPr>
        <p:spPr>
          <a:xfrm>
            <a:off x="5294376" y="1335024"/>
            <a:ext cx="347472" cy="164592"/>
          </a:xfrm>
          <a:prstGeom prst="rect">
            <a:avLst/>
          </a:prstGeom>
          <a:solidFill>
            <a:srgbClr val="10B981">
              <a:alpha val="74901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9"/>
          <p:cNvSpPr/>
          <p:nvPr/>
        </p:nvSpPr>
        <p:spPr>
          <a:xfrm>
            <a:off x="5669280" y="1335024"/>
            <a:ext cx="347472" cy="164592"/>
          </a:xfrm>
          <a:prstGeom prst="rect">
            <a:avLst/>
          </a:prstGeom>
          <a:solidFill>
            <a:srgbClr val="F59E0B">
              <a:alpha val="74901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9"/>
          <p:cNvSpPr/>
          <p:nvPr/>
        </p:nvSpPr>
        <p:spPr>
          <a:xfrm>
            <a:off x="6044184" y="1335024"/>
            <a:ext cx="347472" cy="164592"/>
          </a:xfrm>
          <a:prstGeom prst="rect">
            <a:avLst/>
          </a:prstGeom>
          <a:solidFill>
            <a:srgbClr val="10B981">
              <a:alpha val="74901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9"/>
          <p:cNvSpPr/>
          <p:nvPr/>
        </p:nvSpPr>
        <p:spPr>
          <a:xfrm>
            <a:off x="6419088" y="1335024"/>
            <a:ext cx="347472" cy="164592"/>
          </a:xfrm>
          <a:prstGeom prst="rect">
            <a:avLst/>
          </a:prstGeom>
          <a:solidFill>
            <a:srgbClr val="EF4444">
              <a:alpha val="74901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9"/>
          <p:cNvSpPr/>
          <p:nvPr/>
        </p:nvSpPr>
        <p:spPr>
          <a:xfrm>
            <a:off x="6793992" y="1335024"/>
            <a:ext cx="347472" cy="164592"/>
          </a:xfrm>
          <a:prstGeom prst="rect">
            <a:avLst/>
          </a:prstGeom>
          <a:solidFill>
            <a:srgbClr val="F59E0B">
              <a:alpha val="74901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9"/>
          <p:cNvSpPr/>
          <p:nvPr/>
        </p:nvSpPr>
        <p:spPr>
          <a:xfrm>
            <a:off x="7168896" y="1335024"/>
            <a:ext cx="347472" cy="164592"/>
          </a:xfrm>
          <a:prstGeom prst="rect">
            <a:avLst/>
          </a:prstGeom>
          <a:solidFill>
            <a:srgbClr val="10B981">
              <a:alpha val="74901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9"/>
          <p:cNvSpPr/>
          <p:nvPr/>
        </p:nvSpPr>
        <p:spPr>
          <a:xfrm>
            <a:off x="7543800" y="1335024"/>
            <a:ext cx="347472" cy="164592"/>
          </a:xfrm>
          <a:prstGeom prst="rect">
            <a:avLst/>
          </a:prstGeom>
          <a:solidFill>
            <a:srgbClr val="8B5CF6">
              <a:alpha val="74901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9"/>
          <p:cNvSpPr/>
          <p:nvPr/>
        </p:nvSpPr>
        <p:spPr>
          <a:xfrm>
            <a:off x="7918704" y="1335024"/>
            <a:ext cx="347472" cy="164592"/>
          </a:xfrm>
          <a:prstGeom prst="rect">
            <a:avLst/>
          </a:prstGeom>
          <a:solidFill>
            <a:srgbClr val="EF4444">
              <a:alpha val="74901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9"/>
          <p:cNvSpPr/>
          <p:nvPr/>
        </p:nvSpPr>
        <p:spPr>
          <a:xfrm>
            <a:off x="8293608" y="1335024"/>
            <a:ext cx="347472" cy="164592"/>
          </a:xfrm>
          <a:prstGeom prst="rect">
            <a:avLst/>
          </a:prstGeom>
          <a:solidFill>
            <a:srgbClr val="10B981">
              <a:alpha val="74901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9"/>
          <p:cNvSpPr/>
          <p:nvPr/>
        </p:nvSpPr>
        <p:spPr>
          <a:xfrm>
            <a:off x="4892040" y="1627632"/>
            <a:ext cx="868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250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9"/>
          <p:cNvSpPr/>
          <p:nvPr/>
        </p:nvSpPr>
        <p:spPr>
          <a:xfrm>
            <a:off x="4892040" y="2029968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FRAMES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9"/>
          <p:cNvSpPr/>
          <p:nvPr/>
        </p:nvSpPr>
        <p:spPr>
          <a:xfrm>
            <a:off x="5852160" y="1627632"/>
            <a:ext cx="868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9"/>
          <p:cNvSpPr/>
          <p:nvPr/>
        </p:nvSpPr>
        <p:spPr>
          <a:xfrm>
            <a:off x="5852160" y="2029968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THREATS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9"/>
          <p:cNvSpPr/>
          <p:nvPr/>
        </p:nvSpPr>
        <p:spPr>
          <a:xfrm>
            <a:off x="6812280" y="1627632"/>
            <a:ext cx="868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CRIT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9"/>
          <p:cNvSpPr/>
          <p:nvPr/>
        </p:nvSpPr>
        <p:spPr>
          <a:xfrm>
            <a:off x="6812280" y="2029968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PEAK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9"/>
          <p:cNvSpPr/>
          <p:nvPr/>
        </p:nvSpPr>
        <p:spPr>
          <a:xfrm>
            <a:off x="7772400" y="1627632"/>
            <a:ext cx="868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9"/>
          <p:cNvSpPr/>
          <p:nvPr/>
        </p:nvSpPr>
        <p:spPr>
          <a:xfrm>
            <a:off x="7772400" y="2029968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FPS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9"/>
          <p:cNvSpPr/>
          <p:nvPr/>
        </p:nvSpPr>
        <p:spPr>
          <a:xfrm>
            <a:off x="4919472" y="2907792"/>
            <a:ext cx="128016" cy="128016"/>
          </a:xfrm>
          <a:prstGeom prst="ellipse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9"/>
          <p:cNvSpPr/>
          <p:nvPr/>
        </p:nvSpPr>
        <p:spPr>
          <a:xfrm>
            <a:off x="5138928" y="2852928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MP4 / AVI / MOV support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9"/>
          <p:cNvSpPr/>
          <p:nvPr/>
        </p:nvSpPr>
        <p:spPr>
          <a:xfrm>
            <a:off x="4919472" y="3255264"/>
            <a:ext cx="128016" cy="128016"/>
          </a:xfrm>
          <a:prstGeom prst="ellipse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9"/>
          <p:cNvSpPr/>
          <p:nvPr/>
        </p:nvSpPr>
        <p:spPr>
          <a:xfrm>
            <a:off x="5138928" y="320040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1 frame/sec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9"/>
          <p:cNvSpPr/>
          <p:nvPr/>
        </p:nvSpPr>
        <p:spPr>
          <a:xfrm>
            <a:off x="4919472" y="3602736"/>
            <a:ext cx="128016" cy="128016"/>
          </a:xfrm>
          <a:prstGeom prst="ellipse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9"/>
          <p:cNvSpPr/>
          <p:nvPr/>
        </p:nvSpPr>
        <p:spPr>
          <a:xfrm>
            <a:off x="5138928" y="354787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Color-coded threat timeline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9"/>
          <p:cNvSpPr/>
          <p:nvPr/>
        </p:nvSpPr>
        <p:spPr>
          <a:xfrm>
            <a:off x="4919472" y="3950208"/>
            <a:ext cx="128016" cy="128016"/>
          </a:xfrm>
          <a:prstGeom prst="ellipse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9"/>
          <p:cNvSpPr/>
          <p:nvPr/>
        </p:nvSpPr>
        <p:spPr>
          <a:xfrm>
            <a:off x="5138928" y="3895344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Click segment for frame detail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9"/>
          <p:cNvSpPr/>
          <p:nvPr/>
        </p:nvSpPr>
        <p:spPr>
          <a:xfrm>
            <a:off x="4919472" y="4297680"/>
            <a:ext cx="128016" cy="128016"/>
          </a:xfrm>
          <a:prstGeom prst="ellipse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9"/>
          <p:cNvSpPr/>
          <p:nvPr/>
        </p:nvSpPr>
        <p:spPr>
          <a:xfrm>
            <a:off x="5138928" y="4242816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Peak threat across full video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23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0"/>
          <p:cNvSpPr/>
          <p:nvPr/>
        </p:nvSpPr>
        <p:spPr>
          <a:xfrm>
            <a:off x="164592" y="128016"/>
            <a:ext cx="274320" cy="3200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0"/>
          <p:cNvSpPr/>
          <p:nvPr/>
        </p:nvSpPr>
        <p:spPr>
          <a:xfrm>
            <a:off x="164592" y="128016"/>
            <a:ext cx="32004" cy="201168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0"/>
          <p:cNvSpPr/>
          <p:nvPr/>
        </p:nvSpPr>
        <p:spPr>
          <a:xfrm>
            <a:off x="8705088" y="128016"/>
            <a:ext cx="274320" cy="3200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0"/>
          <p:cNvSpPr/>
          <p:nvPr/>
        </p:nvSpPr>
        <p:spPr>
          <a:xfrm>
            <a:off x="8947404" y="128016"/>
            <a:ext cx="32004" cy="201168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0"/>
          <p:cNvSpPr/>
          <p:nvPr/>
        </p:nvSpPr>
        <p:spPr>
          <a:xfrm>
            <a:off x="164592" y="5029200"/>
            <a:ext cx="274320" cy="3200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0"/>
          <p:cNvSpPr/>
          <p:nvPr/>
        </p:nvSpPr>
        <p:spPr>
          <a:xfrm>
            <a:off x="164592" y="4846320"/>
            <a:ext cx="32004" cy="219456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0"/>
          <p:cNvSpPr/>
          <p:nvPr/>
        </p:nvSpPr>
        <p:spPr>
          <a:xfrm>
            <a:off x="8705088" y="5029200"/>
            <a:ext cx="274320" cy="3200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0"/>
          <p:cNvSpPr/>
          <p:nvPr/>
        </p:nvSpPr>
        <p:spPr>
          <a:xfrm>
            <a:off x="8947404" y="4846320"/>
            <a:ext cx="32004" cy="219456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0"/>
          <p:cNvSpPr/>
          <p:nvPr/>
        </p:nvSpPr>
        <p:spPr>
          <a:xfrm>
            <a:off x="0" y="5120640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AURA — Neural Intelligence Platform  ·  Ghinwa Allaoui &amp; Riam Abbas  ·  2025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0"/>
          <p:cNvSpPr/>
          <p:nvPr/>
        </p:nvSpPr>
        <p:spPr>
          <a:xfrm>
            <a:off x="274320" y="137160"/>
            <a:ext cx="1645920" cy="292608"/>
          </a:xfrm>
          <a:prstGeom prst="roundRect">
            <a:avLst>
              <a:gd fmla="val 15625" name="adj"/>
            </a:avLst>
          </a:prstGeom>
          <a:solidFill>
            <a:srgbClr val="EF4444">
              <a:alpha val="20000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0"/>
          <p:cNvSpPr/>
          <p:nvPr/>
        </p:nvSpPr>
        <p:spPr>
          <a:xfrm>
            <a:off x="274320" y="13716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0"/>
          <p:cNvSpPr/>
          <p:nvPr/>
        </p:nvSpPr>
        <p:spPr>
          <a:xfrm>
            <a:off x="2011680" y="109728"/>
            <a:ext cx="6858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Threat Classification System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0"/>
          <p:cNvSpPr/>
          <p:nvPr/>
        </p:nvSpPr>
        <p:spPr>
          <a:xfrm>
            <a:off x="274320" y="749808"/>
            <a:ext cx="8595360" cy="877824"/>
          </a:xfrm>
          <a:prstGeom prst="roundRect">
            <a:avLst>
              <a:gd fmla="val 7292" name="adj"/>
            </a:avLst>
          </a:prstGeom>
          <a:solidFill>
            <a:srgbClr val="151E2A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0"/>
          <p:cNvSpPr/>
          <p:nvPr/>
        </p:nvSpPr>
        <p:spPr>
          <a:xfrm>
            <a:off x="274320" y="749808"/>
            <a:ext cx="54864" cy="87782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0"/>
          <p:cNvSpPr/>
          <p:nvPr/>
        </p:nvSpPr>
        <p:spPr>
          <a:xfrm>
            <a:off x="420624" y="859536"/>
            <a:ext cx="1280160" cy="384048"/>
          </a:xfrm>
          <a:prstGeom prst="roundRect">
            <a:avLst>
              <a:gd fmla="val 11905" name="adj"/>
            </a:avLst>
          </a:prstGeom>
          <a:solidFill>
            <a:srgbClr val="10B981">
              <a:alpha val="25098"/>
            </a:srgbClr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0"/>
          <p:cNvSpPr/>
          <p:nvPr/>
        </p:nvSpPr>
        <p:spPr>
          <a:xfrm>
            <a:off x="420624" y="859536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SAFE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0"/>
          <p:cNvSpPr/>
          <p:nvPr/>
        </p:nvSpPr>
        <p:spPr>
          <a:xfrm>
            <a:off x="1883664" y="841248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TRIGGER: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0"/>
          <p:cNvSpPr/>
          <p:nvPr/>
        </p:nvSpPr>
        <p:spPr>
          <a:xfrm>
            <a:off x="2651760" y="822960"/>
            <a:ext cx="6035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All objects are benign — person, laptop, chair, cat, book...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0"/>
          <p:cNvSpPr/>
          <p:nvPr/>
        </p:nvSpPr>
        <p:spPr>
          <a:xfrm>
            <a:off x="1883664" y="128016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→ No escalation required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0"/>
          <p:cNvSpPr/>
          <p:nvPr/>
        </p:nvSpPr>
        <p:spPr>
          <a:xfrm>
            <a:off x="274320" y="1773936"/>
            <a:ext cx="8595360" cy="877824"/>
          </a:xfrm>
          <a:prstGeom prst="roundRect">
            <a:avLst>
              <a:gd fmla="val 7292" name="adj"/>
            </a:avLst>
          </a:prstGeom>
          <a:solidFill>
            <a:srgbClr val="151E2A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0"/>
          <p:cNvSpPr/>
          <p:nvPr/>
        </p:nvSpPr>
        <p:spPr>
          <a:xfrm>
            <a:off x="274320" y="1773936"/>
            <a:ext cx="54864" cy="87782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0"/>
          <p:cNvSpPr/>
          <p:nvPr/>
        </p:nvSpPr>
        <p:spPr>
          <a:xfrm>
            <a:off x="420624" y="1883664"/>
            <a:ext cx="1280160" cy="384048"/>
          </a:xfrm>
          <a:prstGeom prst="roundRect">
            <a:avLst>
              <a:gd fmla="val 11905" name="adj"/>
            </a:avLst>
          </a:prstGeom>
          <a:solidFill>
            <a:srgbClr val="F59E0B">
              <a:alpha val="25098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0"/>
          <p:cNvSpPr/>
          <p:nvPr/>
        </p:nvSpPr>
        <p:spPr>
          <a:xfrm>
            <a:off x="420624" y="1883664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CAUTION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0"/>
          <p:cNvSpPr/>
          <p:nvPr/>
        </p:nvSpPr>
        <p:spPr>
          <a:xfrm>
            <a:off x="1883664" y="1865376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TRIGGER: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0"/>
          <p:cNvSpPr/>
          <p:nvPr/>
        </p:nvSpPr>
        <p:spPr>
          <a:xfrm>
            <a:off x="2651760" y="1847088"/>
            <a:ext cx="6035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Suspicious context — backpack, vehicle, suitcase, umbrella...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0"/>
          <p:cNvSpPr/>
          <p:nvPr/>
        </p:nvSpPr>
        <p:spPr>
          <a:xfrm>
            <a:off x="1883664" y="2304288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→ Monitor situation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0"/>
          <p:cNvSpPr/>
          <p:nvPr/>
        </p:nvSpPr>
        <p:spPr>
          <a:xfrm>
            <a:off x="274320" y="2798064"/>
            <a:ext cx="8595360" cy="877824"/>
          </a:xfrm>
          <a:prstGeom prst="roundRect">
            <a:avLst>
              <a:gd fmla="val 7292" name="adj"/>
            </a:avLst>
          </a:prstGeom>
          <a:solidFill>
            <a:srgbClr val="151E2A"/>
          </a:solidFill>
          <a:ln cap="flat" cmpd="sng" w="190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0"/>
          <p:cNvSpPr/>
          <p:nvPr/>
        </p:nvSpPr>
        <p:spPr>
          <a:xfrm>
            <a:off x="274320" y="2798064"/>
            <a:ext cx="54864" cy="87782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0"/>
          <p:cNvSpPr/>
          <p:nvPr/>
        </p:nvSpPr>
        <p:spPr>
          <a:xfrm>
            <a:off x="420624" y="2907792"/>
            <a:ext cx="1280160" cy="384048"/>
          </a:xfrm>
          <a:prstGeom prst="roundRect">
            <a:avLst>
              <a:gd fmla="val 11905" name="adj"/>
            </a:avLst>
          </a:prstGeom>
          <a:solidFill>
            <a:srgbClr val="EF4444">
              <a:alpha val="25098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0"/>
          <p:cNvSpPr/>
          <p:nvPr/>
        </p:nvSpPr>
        <p:spPr>
          <a:xfrm>
            <a:off x="420624" y="2907792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DANGER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0"/>
          <p:cNvSpPr/>
          <p:nvPr/>
        </p:nvSpPr>
        <p:spPr>
          <a:xfrm>
            <a:off x="1883664" y="2889504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TRIGGER: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0"/>
          <p:cNvSpPr/>
          <p:nvPr/>
        </p:nvSpPr>
        <p:spPr>
          <a:xfrm>
            <a:off x="2651760" y="2871216"/>
            <a:ext cx="6035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Confirmed threat — knife, scissors, gun, sword, baseball bat...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0"/>
          <p:cNvSpPr/>
          <p:nvPr/>
        </p:nvSpPr>
        <p:spPr>
          <a:xfrm>
            <a:off x="1883664" y="3328416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→ Trigger security protocol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0"/>
          <p:cNvSpPr/>
          <p:nvPr/>
        </p:nvSpPr>
        <p:spPr>
          <a:xfrm>
            <a:off x="274320" y="3822192"/>
            <a:ext cx="8595360" cy="877824"/>
          </a:xfrm>
          <a:prstGeom prst="roundRect">
            <a:avLst>
              <a:gd fmla="val 7292" name="adj"/>
            </a:avLst>
          </a:prstGeom>
          <a:solidFill>
            <a:srgbClr val="151E2A"/>
          </a:solidFill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0"/>
          <p:cNvSpPr/>
          <p:nvPr/>
        </p:nvSpPr>
        <p:spPr>
          <a:xfrm>
            <a:off x="274320" y="3822192"/>
            <a:ext cx="54864" cy="877824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0"/>
          <p:cNvSpPr/>
          <p:nvPr/>
        </p:nvSpPr>
        <p:spPr>
          <a:xfrm>
            <a:off x="420624" y="3931920"/>
            <a:ext cx="1280160" cy="384048"/>
          </a:xfrm>
          <a:prstGeom prst="roundRect">
            <a:avLst>
              <a:gd fmla="val 11905" name="adj"/>
            </a:avLst>
          </a:prstGeom>
          <a:solidFill>
            <a:srgbClr val="8B5CF6">
              <a:alpha val="25098"/>
            </a:srgbClr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0"/>
          <p:cNvSpPr/>
          <p:nvPr/>
        </p:nvSpPr>
        <p:spPr>
          <a:xfrm>
            <a:off x="420624" y="3931920"/>
            <a:ext cx="1280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CRITICAL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0"/>
          <p:cNvSpPr/>
          <p:nvPr/>
        </p:nvSpPr>
        <p:spPr>
          <a:xfrm>
            <a:off x="1883664" y="3913632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TRIGGER: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0"/>
          <p:cNvSpPr/>
          <p:nvPr/>
        </p:nvSpPr>
        <p:spPr>
          <a:xfrm>
            <a:off x="2651760" y="3895344"/>
            <a:ext cx="6035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Weapon + person in same frame / 2+ danger objects / fear emotion detected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0"/>
          <p:cNvSpPr/>
          <p:nvPr/>
        </p:nvSpPr>
        <p:spPr>
          <a:xfrm>
            <a:off x="1883664" y="4352544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→ Immediate response required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0"/>
          <p:cNvSpPr/>
          <p:nvPr/>
        </p:nvSpPr>
        <p:spPr>
          <a:xfrm>
            <a:off x="274320" y="4846320"/>
            <a:ext cx="8595360" cy="292608"/>
          </a:xfrm>
          <a:prstGeom prst="roundRect">
            <a:avLst>
              <a:gd fmla="val 12500" name="adj"/>
            </a:avLst>
          </a:prstGeom>
          <a:solidFill>
            <a:srgbClr val="0D1117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0"/>
          <p:cNvSpPr/>
          <p:nvPr/>
        </p:nvSpPr>
        <p:spPr>
          <a:xfrm>
            <a:off x="457200" y="4846320"/>
            <a:ext cx="8321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⚠  Contextual Escalation: Weapon + Person → CRITICAL automatically · 2+ Danger objects → CRITICAL · Fear emotion → CRITICAL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23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1"/>
          <p:cNvSpPr/>
          <p:nvPr/>
        </p:nvSpPr>
        <p:spPr>
          <a:xfrm>
            <a:off x="164592" y="128016"/>
            <a:ext cx="274320" cy="3200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1"/>
          <p:cNvSpPr/>
          <p:nvPr/>
        </p:nvSpPr>
        <p:spPr>
          <a:xfrm>
            <a:off x="164592" y="128016"/>
            <a:ext cx="32004" cy="20116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1"/>
          <p:cNvSpPr/>
          <p:nvPr/>
        </p:nvSpPr>
        <p:spPr>
          <a:xfrm>
            <a:off x="8705088" y="128016"/>
            <a:ext cx="274320" cy="3200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1"/>
          <p:cNvSpPr/>
          <p:nvPr/>
        </p:nvSpPr>
        <p:spPr>
          <a:xfrm>
            <a:off x="8947404" y="128016"/>
            <a:ext cx="32004" cy="20116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1"/>
          <p:cNvSpPr/>
          <p:nvPr/>
        </p:nvSpPr>
        <p:spPr>
          <a:xfrm>
            <a:off x="164592" y="5029200"/>
            <a:ext cx="274320" cy="3200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1"/>
          <p:cNvSpPr/>
          <p:nvPr/>
        </p:nvSpPr>
        <p:spPr>
          <a:xfrm>
            <a:off x="164592" y="4846320"/>
            <a:ext cx="32004" cy="219456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1"/>
          <p:cNvSpPr/>
          <p:nvPr/>
        </p:nvSpPr>
        <p:spPr>
          <a:xfrm>
            <a:off x="8705088" y="5029200"/>
            <a:ext cx="274320" cy="3200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1"/>
          <p:cNvSpPr/>
          <p:nvPr/>
        </p:nvSpPr>
        <p:spPr>
          <a:xfrm>
            <a:off x="8947404" y="4846320"/>
            <a:ext cx="32004" cy="219456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1"/>
          <p:cNvSpPr/>
          <p:nvPr/>
        </p:nvSpPr>
        <p:spPr>
          <a:xfrm>
            <a:off x="0" y="5120640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AURA — Neural Intelligence Platform  ·  Ghinwa Allaoui &amp; Riam Abbas  ·  2025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1"/>
          <p:cNvSpPr/>
          <p:nvPr/>
        </p:nvSpPr>
        <p:spPr>
          <a:xfrm>
            <a:off x="274320" y="137160"/>
            <a:ext cx="1645920" cy="292608"/>
          </a:xfrm>
          <a:prstGeom prst="roundRect">
            <a:avLst>
              <a:gd fmla="val 15625" name="adj"/>
            </a:avLst>
          </a:prstGeom>
          <a:solidFill>
            <a:srgbClr val="F59E0B">
              <a:alpha val="20000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1"/>
          <p:cNvSpPr/>
          <p:nvPr/>
        </p:nvSpPr>
        <p:spPr>
          <a:xfrm>
            <a:off x="274320" y="13716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CHALLENGES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1"/>
          <p:cNvSpPr/>
          <p:nvPr/>
        </p:nvSpPr>
        <p:spPr>
          <a:xfrm>
            <a:off x="2011680" y="109728"/>
            <a:ext cx="6858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Challenges &amp; How We Overcame Them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1"/>
          <p:cNvSpPr/>
          <p:nvPr/>
        </p:nvSpPr>
        <p:spPr>
          <a:xfrm>
            <a:off x="274320" y="749808"/>
            <a:ext cx="8595360" cy="731520"/>
          </a:xfrm>
          <a:prstGeom prst="roundRect">
            <a:avLst>
              <a:gd fmla="val 7500" name="adj"/>
            </a:avLst>
          </a:prstGeom>
          <a:solidFill>
            <a:srgbClr val="151E2A"/>
          </a:solidFill>
          <a:ln cap="flat" cmpd="sng" w="12700">
            <a:solidFill>
              <a:srgbClr val="EF444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1"/>
          <p:cNvSpPr/>
          <p:nvPr/>
        </p:nvSpPr>
        <p:spPr>
          <a:xfrm>
            <a:off x="274320" y="749808"/>
            <a:ext cx="45720" cy="73152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1"/>
          <p:cNvSpPr/>
          <p:nvPr/>
        </p:nvSpPr>
        <p:spPr>
          <a:xfrm>
            <a:off x="402336" y="786384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CHALLENGE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1"/>
          <p:cNvSpPr/>
          <p:nvPr/>
        </p:nvSpPr>
        <p:spPr>
          <a:xfrm>
            <a:off x="402336" y="969264"/>
            <a:ext cx="3749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YOLO latency on CPU was too slow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1"/>
          <p:cNvSpPr/>
          <p:nvPr/>
        </p:nvSpPr>
        <p:spPr>
          <a:xfrm>
            <a:off x="4251960" y="841248"/>
            <a:ext cx="18288" cy="548640"/>
          </a:xfrm>
          <a:prstGeom prst="rect">
            <a:avLst/>
          </a:prstGeom>
          <a:solidFill>
            <a:srgbClr val="475569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1"/>
          <p:cNvSpPr/>
          <p:nvPr/>
        </p:nvSpPr>
        <p:spPr>
          <a:xfrm>
            <a:off x="4407408" y="78638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1"/>
          <p:cNvSpPr/>
          <p:nvPr/>
        </p:nvSpPr>
        <p:spPr>
          <a:xfrm>
            <a:off x="4407408" y="987552"/>
            <a:ext cx="4343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Used YOLOv8n (nano) — ~87ms per frame vs 400ms+ with larger models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1"/>
          <p:cNvSpPr/>
          <p:nvPr/>
        </p:nvSpPr>
        <p:spPr>
          <a:xfrm>
            <a:off x="274320" y="1609344"/>
            <a:ext cx="8595360" cy="731520"/>
          </a:xfrm>
          <a:prstGeom prst="roundRect">
            <a:avLst>
              <a:gd fmla="val 7500" name="adj"/>
            </a:avLst>
          </a:prstGeom>
          <a:solidFill>
            <a:srgbClr val="151E2A"/>
          </a:solidFill>
          <a:ln cap="flat" cmpd="sng" w="12700">
            <a:solidFill>
              <a:srgbClr val="F59E0B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1"/>
          <p:cNvSpPr/>
          <p:nvPr/>
        </p:nvSpPr>
        <p:spPr>
          <a:xfrm>
            <a:off x="274320" y="1609344"/>
            <a:ext cx="45720" cy="7315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1"/>
          <p:cNvSpPr/>
          <p:nvPr/>
        </p:nvSpPr>
        <p:spPr>
          <a:xfrm>
            <a:off x="402336" y="1645920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CHALLENGE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1"/>
          <p:cNvSpPr/>
          <p:nvPr/>
        </p:nvSpPr>
        <p:spPr>
          <a:xfrm>
            <a:off x="402336" y="1828800"/>
            <a:ext cx="3749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CORS errors blocking the camera feed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1"/>
          <p:cNvSpPr/>
          <p:nvPr/>
        </p:nvSpPr>
        <p:spPr>
          <a:xfrm>
            <a:off x="4251960" y="1700784"/>
            <a:ext cx="18288" cy="548640"/>
          </a:xfrm>
          <a:prstGeom prst="rect">
            <a:avLst/>
          </a:prstGeom>
          <a:solidFill>
            <a:srgbClr val="475569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1"/>
          <p:cNvSpPr/>
          <p:nvPr/>
        </p:nvSpPr>
        <p:spPr>
          <a:xfrm>
            <a:off x="4407408" y="16459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1"/>
          <p:cNvSpPr/>
          <p:nvPr/>
        </p:nvSpPr>
        <p:spPr>
          <a:xfrm>
            <a:off x="4407408" y="1847088"/>
            <a:ext cx="4343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Added FastAPI CORSMiddleware with expose_headers=["*"] for X-Threat custom headers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1"/>
          <p:cNvSpPr/>
          <p:nvPr/>
        </p:nvSpPr>
        <p:spPr>
          <a:xfrm>
            <a:off x="274320" y="2468880"/>
            <a:ext cx="8595360" cy="731520"/>
          </a:xfrm>
          <a:prstGeom prst="roundRect">
            <a:avLst>
              <a:gd fmla="val 7500" name="adj"/>
            </a:avLst>
          </a:prstGeom>
          <a:solidFill>
            <a:srgbClr val="151E2A"/>
          </a:solidFill>
          <a:ln cap="flat" cmpd="sng" w="12700">
            <a:solidFill>
              <a:srgbClr val="06B6D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1"/>
          <p:cNvSpPr/>
          <p:nvPr/>
        </p:nvSpPr>
        <p:spPr>
          <a:xfrm>
            <a:off x="274320" y="2468880"/>
            <a:ext cx="45720" cy="73152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1"/>
          <p:cNvSpPr/>
          <p:nvPr/>
        </p:nvSpPr>
        <p:spPr>
          <a:xfrm>
            <a:off x="402336" y="2505456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CHALLENGE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1"/>
          <p:cNvSpPr/>
          <p:nvPr/>
        </p:nvSpPr>
        <p:spPr>
          <a:xfrm>
            <a:off x="402336" y="2688336"/>
            <a:ext cx="3749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Delivering camera frames to browser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1"/>
          <p:cNvSpPr/>
          <p:nvPr/>
        </p:nvSpPr>
        <p:spPr>
          <a:xfrm>
            <a:off x="4251960" y="2560320"/>
            <a:ext cx="18288" cy="548640"/>
          </a:xfrm>
          <a:prstGeom prst="rect">
            <a:avLst/>
          </a:prstGeom>
          <a:solidFill>
            <a:srgbClr val="475569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1"/>
          <p:cNvSpPr/>
          <p:nvPr/>
        </p:nvSpPr>
        <p:spPr>
          <a:xfrm>
            <a:off x="4407408" y="250545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1"/>
          <p:cNvSpPr/>
          <p:nvPr/>
        </p:nvSpPr>
        <p:spPr>
          <a:xfrm>
            <a:off x="4407408" y="2706624"/>
            <a:ext cx="4343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Encoded frames as JPEG via HTTP Response with threat metadata in custom headers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1"/>
          <p:cNvSpPr/>
          <p:nvPr/>
        </p:nvSpPr>
        <p:spPr>
          <a:xfrm>
            <a:off x="274320" y="3328416"/>
            <a:ext cx="8595360" cy="731520"/>
          </a:xfrm>
          <a:prstGeom prst="roundRect">
            <a:avLst>
              <a:gd fmla="val 7500" name="adj"/>
            </a:avLst>
          </a:prstGeom>
          <a:solidFill>
            <a:srgbClr val="151E2A"/>
          </a:solidFill>
          <a:ln cap="flat" cmpd="sng" w="12700">
            <a:solidFill>
              <a:srgbClr val="10B981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1"/>
          <p:cNvSpPr/>
          <p:nvPr/>
        </p:nvSpPr>
        <p:spPr>
          <a:xfrm>
            <a:off x="274320" y="3328416"/>
            <a:ext cx="45720" cy="73152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1"/>
          <p:cNvSpPr/>
          <p:nvPr/>
        </p:nvSpPr>
        <p:spPr>
          <a:xfrm>
            <a:off x="402336" y="3364992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CHALLENGE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1"/>
          <p:cNvSpPr/>
          <p:nvPr/>
        </p:nvSpPr>
        <p:spPr>
          <a:xfrm>
            <a:off x="402336" y="3547872"/>
            <a:ext cx="3749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JWT + bcrypt compatibility issues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1"/>
          <p:cNvSpPr/>
          <p:nvPr/>
        </p:nvSpPr>
        <p:spPr>
          <a:xfrm>
            <a:off x="4251960" y="3419856"/>
            <a:ext cx="18288" cy="548640"/>
          </a:xfrm>
          <a:prstGeom prst="rect">
            <a:avLst/>
          </a:prstGeom>
          <a:solidFill>
            <a:srgbClr val="475569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1"/>
          <p:cNvSpPr/>
          <p:nvPr/>
        </p:nvSpPr>
        <p:spPr>
          <a:xfrm>
            <a:off x="4407408" y="336499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1"/>
          <p:cNvSpPr/>
          <p:nvPr/>
        </p:nvSpPr>
        <p:spPr>
          <a:xfrm>
            <a:off x="4407408" y="3566160"/>
            <a:ext cx="4343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Used python-jose for JWT and passlib with a 71-char password cap to avoid truncation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1"/>
          <p:cNvSpPr/>
          <p:nvPr/>
        </p:nvSpPr>
        <p:spPr>
          <a:xfrm>
            <a:off x="274320" y="4187952"/>
            <a:ext cx="8595360" cy="731520"/>
          </a:xfrm>
          <a:prstGeom prst="roundRect">
            <a:avLst>
              <a:gd fmla="val 7500" name="adj"/>
            </a:avLst>
          </a:prstGeom>
          <a:solidFill>
            <a:srgbClr val="151E2A"/>
          </a:solidFill>
          <a:ln cap="flat" cmpd="sng" w="12700">
            <a:solidFill>
              <a:srgbClr val="8B5CF6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1"/>
          <p:cNvSpPr/>
          <p:nvPr/>
        </p:nvSpPr>
        <p:spPr>
          <a:xfrm>
            <a:off x="274320" y="4187952"/>
            <a:ext cx="45720" cy="73152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1"/>
          <p:cNvSpPr/>
          <p:nvPr/>
        </p:nvSpPr>
        <p:spPr>
          <a:xfrm>
            <a:off x="402336" y="4224528"/>
            <a:ext cx="1005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CHALLENGE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1"/>
          <p:cNvSpPr/>
          <p:nvPr/>
        </p:nvSpPr>
        <p:spPr>
          <a:xfrm>
            <a:off x="402336" y="4407408"/>
            <a:ext cx="3749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Arabic text misclassified by basic AI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1"/>
          <p:cNvSpPr/>
          <p:nvPr/>
        </p:nvSpPr>
        <p:spPr>
          <a:xfrm>
            <a:off x="4251960" y="4279392"/>
            <a:ext cx="18288" cy="548640"/>
          </a:xfrm>
          <a:prstGeom prst="rect">
            <a:avLst/>
          </a:prstGeom>
          <a:solidFill>
            <a:srgbClr val="475569"/>
          </a:solidFill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1"/>
          <p:cNvSpPr/>
          <p:nvPr/>
        </p:nvSpPr>
        <p:spPr>
          <a:xfrm>
            <a:off x="4407408" y="422452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1"/>
          <p:cNvSpPr/>
          <p:nvPr/>
        </p:nvSpPr>
        <p:spPr>
          <a:xfrm>
            <a:off x="4407408" y="4425696"/>
            <a:ext cx="4343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Switched to Groq llama-3.3-70b which natively understands Arabic and extracts entities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23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2"/>
          <p:cNvSpPr/>
          <p:nvPr/>
        </p:nvSpPr>
        <p:spPr>
          <a:xfrm>
            <a:off x="164592" y="128016"/>
            <a:ext cx="274320" cy="3200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2"/>
          <p:cNvSpPr/>
          <p:nvPr/>
        </p:nvSpPr>
        <p:spPr>
          <a:xfrm>
            <a:off x="164592" y="128016"/>
            <a:ext cx="32004" cy="20116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2"/>
          <p:cNvSpPr/>
          <p:nvPr/>
        </p:nvSpPr>
        <p:spPr>
          <a:xfrm>
            <a:off x="8705088" y="128016"/>
            <a:ext cx="274320" cy="3200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2"/>
          <p:cNvSpPr/>
          <p:nvPr/>
        </p:nvSpPr>
        <p:spPr>
          <a:xfrm>
            <a:off x="8947404" y="128016"/>
            <a:ext cx="32004" cy="20116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2"/>
          <p:cNvSpPr/>
          <p:nvPr/>
        </p:nvSpPr>
        <p:spPr>
          <a:xfrm>
            <a:off x="164592" y="5029200"/>
            <a:ext cx="274320" cy="3200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2"/>
          <p:cNvSpPr/>
          <p:nvPr/>
        </p:nvSpPr>
        <p:spPr>
          <a:xfrm>
            <a:off x="164592" y="4846320"/>
            <a:ext cx="32004" cy="219456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2"/>
          <p:cNvSpPr/>
          <p:nvPr/>
        </p:nvSpPr>
        <p:spPr>
          <a:xfrm>
            <a:off x="8705088" y="5029200"/>
            <a:ext cx="274320" cy="3200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2"/>
          <p:cNvSpPr/>
          <p:nvPr/>
        </p:nvSpPr>
        <p:spPr>
          <a:xfrm>
            <a:off x="8947404" y="4846320"/>
            <a:ext cx="32004" cy="219456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2"/>
          <p:cNvSpPr/>
          <p:nvPr/>
        </p:nvSpPr>
        <p:spPr>
          <a:xfrm>
            <a:off x="0" y="5120640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AURA — Neural Intelligence Platform  ·  Ghinwa Allaoui &amp; Riam Abbas  ·  2025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2"/>
          <p:cNvSpPr/>
          <p:nvPr/>
        </p:nvSpPr>
        <p:spPr>
          <a:xfrm>
            <a:off x="274320" y="137160"/>
            <a:ext cx="1645920" cy="292608"/>
          </a:xfrm>
          <a:prstGeom prst="roundRect">
            <a:avLst>
              <a:gd fmla="val 15625" name="adj"/>
            </a:avLst>
          </a:prstGeom>
          <a:solidFill>
            <a:srgbClr val="10B981">
              <a:alpha val="20000"/>
            </a:srgbClr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2"/>
          <p:cNvSpPr/>
          <p:nvPr/>
        </p:nvSpPr>
        <p:spPr>
          <a:xfrm>
            <a:off x="274320" y="13716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INNOVATION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2"/>
          <p:cNvSpPr/>
          <p:nvPr/>
        </p:nvSpPr>
        <p:spPr>
          <a:xfrm>
            <a:off x="2011680" y="109728"/>
            <a:ext cx="6858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Added Value &amp; Innovation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2"/>
          <p:cNvSpPr/>
          <p:nvPr/>
        </p:nvSpPr>
        <p:spPr>
          <a:xfrm>
            <a:off x="274320" y="749808"/>
            <a:ext cx="1965960" cy="777240"/>
          </a:xfrm>
          <a:prstGeom prst="roundRect">
            <a:avLst>
              <a:gd fmla="val 7059" name="adj"/>
            </a:avLst>
          </a:prstGeom>
          <a:solidFill>
            <a:srgbClr val="151E2A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2"/>
          <p:cNvSpPr/>
          <p:nvPr/>
        </p:nvSpPr>
        <p:spPr>
          <a:xfrm>
            <a:off x="274320" y="795528"/>
            <a:ext cx="1965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2"/>
          <p:cNvSpPr/>
          <p:nvPr/>
        </p:nvSpPr>
        <p:spPr>
          <a:xfrm>
            <a:off x="274320" y="1207008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Analysis Modes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2"/>
          <p:cNvSpPr/>
          <p:nvPr/>
        </p:nvSpPr>
        <p:spPr>
          <a:xfrm>
            <a:off x="2395728" y="749808"/>
            <a:ext cx="1965960" cy="777240"/>
          </a:xfrm>
          <a:prstGeom prst="roundRect">
            <a:avLst>
              <a:gd fmla="val 7059" name="adj"/>
            </a:avLst>
          </a:prstGeom>
          <a:solidFill>
            <a:srgbClr val="151E2A"/>
          </a:solidFill>
          <a:ln cap="flat" cmpd="sng" w="1905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2"/>
          <p:cNvSpPr/>
          <p:nvPr/>
        </p:nvSpPr>
        <p:spPr>
          <a:xfrm>
            <a:off x="2395728" y="795528"/>
            <a:ext cx="1965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80+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2"/>
          <p:cNvSpPr/>
          <p:nvPr/>
        </p:nvSpPr>
        <p:spPr>
          <a:xfrm>
            <a:off x="2395728" y="1207008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Object Classes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2"/>
          <p:cNvSpPr/>
          <p:nvPr/>
        </p:nvSpPr>
        <p:spPr>
          <a:xfrm>
            <a:off x="4517136" y="749808"/>
            <a:ext cx="1965960" cy="777240"/>
          </a:xfrm>
          <a:prstGeom prst="roundRect">
            <a:avLst>
              <a:gd fmla="val 7059" name="adj"/>
            </a:avLst>
          </a:prstGeom>
          <a:solidFill>
            <a:srgbClr val="151E2A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2"/>
          <p:cNvSpPr/>
          <p:nvPr/>
        </p:nvSpPr>
        <p:spPr>
          <a:xfrm>
            <a:off x="4517136" y="795528"/>
            <a:ext cx="1965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87%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2"/>
          <p:cNvSpPr/>
          <p:nvPr/>
        </p:nvSpPr>
        <p:spPr>
          <a:xfrm>
            <a:off x="4517136" y="1207008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Avg Confidence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2"/>
          <p:cNvSpPr/>
          <p:nvPr/>
        </p:nvSpPr>
        <p:spPr>
          <a:xfrm>
            <a:off x="6638544" y="749808"/>
            <a:ext cx="1965960" cy="777240"/>
          </a:xfrm>
          <a:prstGeom prst="roundRect">
            <a:avLst>
              <a:gd fmla="val 7059" name="adj"/>
            </a:avLst>
          </a:prstGeom>
          <a:solidFill>
            <a:srgbClr val="151E2A"/>
          </a:solidFill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2"/>
          <p:cNvSpPr/>
          <p:nvPr/>
        </p:nvSpPr>
        <p:spPr>
          <a:xfrm>
            <a:off x="6638544" y="795528"/>
            <a:ext cx="19659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24h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2"/>
          <p:cNvSpPr/>
          <p:nvPr/>
        </p:nvSpPr>
        <p:spPr>
          <a:xfrm>
            <a:off x="6638544" y="1207008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JWT Token Life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2"/>
          <p:cNvSpPr/>
          <p:nvPr/>
        </p:nvSpPr>
        <p:spPr>
          <a:xfrm>
            <a:off x="274320" y="1719072"/>
            <a:ext cx="4023360" cy="1115568"/>
          </a:xfrm>
          <a:prstGeom prst="roundRect">
            <a:avLst>
              <a:gd fmla="val 5738" name="adj"/>
            </a:avLst>
          </a:prstGeom>
          <a:solidFill>
            <a:srgbClr val="151E2A"/>
          </a:solidFill>
          <a:ln cap="flat" cmpd="sng" w="190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2"/>
          <p:cNvSpPr/>
          <p:nvPr/>
        </p:nvSpPr>
        <p:spPr>
          <a:xfrm>
            <a:off x="274320" y="1719072"/>
            <a:ext cx="45720" cy="1115568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2"/>
          <p:cNvSpPr/>
          <p:nvPr/>
        </p:nvSpPr>
        <p:spPr>
          <a:xfrm>
            <a:off x="438912" y="181051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Contextual AI Escalation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2"/>
          <p:cNvSpPr/>
          <p:nvPr/>
        </p:nvSpPr>
        <p:spPr>
          <a:xfrm>
            <a:off x="438912" y="2157984"/>
            <a:ext cx="37490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Goes beyond basic detection — weapon near a person auto-escalates to CRITICAL. Real threat reasoning, not just classification.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2"/>
          <p:cNvSpPr/>
          <p:nvPr/>
        </p:nvSpPr>
        <p:spPr>
          <a:xfrm>
            <a:off x="4663440" y="1719072"/>
            <a:ext cx="4023360" cy="1115568"/>
          </a:xfrm>
          <a:prstGeom prst="roundRect">
            <a:avLst>
              <a:gd fmla="val 5738" name="adj"/>
            </a:avLst>
          </a:prstGeom>
          <a:solidFill>
            <a:srgbClr val="151E2A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2"/>
          <p:cNvSpPr/>
          <p:nvPr/>
        </p:nvSpPr>
        <p:spPr>
          <a:xfrm>
            <a:off x="4663440" y="1719072"/>
            <a:ext cx="45720" cy="111556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2"/>
          <p:cNvSpPr/>
          <p:nvPr/>
        </p:nvSpPr>
        <p:spPr>
          <a:xfrm>
            <a:off x="4828032" y="181051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Fully Offline Capable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2"/>
          <p:cNvSpPr/>
          <p:nvPr/>
        </p:nvSpPr>
        <p:spPr>
          <a:xfrm>
            <a:off x="4828032" y="2157984"/>
            <a:ext cx="37490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YOLOv8 and the full detection pipeline run locally — no cloud, no privacy concerns, no recurring costs.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2"/>
          <p:cNvSpPr/>
          <p:nvPr/>
        </p:nvSpPr>
        <p:spPr>
          <a:xfrm>
            <a:off x="274320" y="2999232"/>
            <a:ext cx="4023360" cy="1115568"/>
          </a:xfrm>
          <a:prstGeom prst="roundRect">
            <a:avLst>
              <a:gd fmla="val 5738" name="adj"/>
            </a:avLst>
          </a:prstGeom>
          <a:solidFill>
            <a:srgbClr val="151E2A"/>
          </a:solidFill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2"/>
          <p:cNvSpPr/>
          <p:nvPr/>
        </p:nvSpPr>
        <p:spPr>
          <a:xfrm>
            <a:off x="274320" y="2999232"/>
            <a:ext cx="45720" cy="1115568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2"/>
          <p:cNvSpPr/>
          <p:nvPr/>
        </p:nvSpPr>
        <p:spPr>
          <a:xfrm>
            <a:off x="438912" y="309067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Multi-Language LLM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2"/>
          <p:cNvSpPr/>
          <p:nvPr/>
        </p:nvSpPr>
        <p:spPr>
          <a:xfrm>
            <a:off x="438912" y="3438144"/>
            <a:ext cx="37490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Groq llama-3.3-70b processes Arabic, English, French text natively — a first for affordable security tools.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2"/>
          <p:cNvSpPr/>
          <p:nvPr/>
        </p:nvSpPr>
        <p:spPr>
          <a:xfrm>
            <a:off x="4663440" y="2999232"/>
            <a:ext cx="4023360" cy="1115568"/>
          </a:xfrm>
          <a:prstGeom prst="roundRect">
            <a:avLst>
              <a:gd fmla="val 5738" name="adj"/>
            </a:avLst>
          </a:prstGeom>
          <a:solidFill>
            <a:srgbClr val="151E2A"/>
          </a:solidFill>
          <a:ln cap="flat" cmpd="sng" w="1905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2"/>
          <p:cNvSpPr/>
          <p:nvPr/>
        </p:nvSpPr>
        <p:spPr>
          <a:xfrm>
            <a:off x="4663440" y="2999232"/>
            <a:ext cx="45720" cy="1115568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2"/>
          <p:cNvSpPr/>
          <p:nvPr/>
        </p:nvSpPr>
        <p:spPr>
          <a:xfrm>
            <a:off x="4828032" y="309067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Unified 4-Mode Platform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2"/>
          <p:cNvSpPr/>
          <p:nvPr/>
        </p:nvSpPr>
        <p:spPr>
          <a:xfrm>
            <a:off x="4828032" y="3438144"/>
            <a:ext cx="37490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One dashboard for images, video, text, and live camera. No tool-switching, no context loss.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23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3"/>
          <p:cNvSpPr/>
          <p:nvPr/>
        </p:nvSpPr>
        <p:spPr>
          <a:xfrm>
            <a:off x="164592" y="128016"/>
            <a:ext cx="274320" cy="3200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3"/>
          <p:cNvSpPr/>
          <p:nvPr/>
        </p:nvSpPr>
        <p:spPr>
          <a:xfrm>
            <a:off x="164592" y="128016"/>
            <a:ext cx="32004" cy="20116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3"/>
          <p:cNvSpPr/>
          <p:nvPr/>
        </p:nvSpPr>
        <p:spPr>
          <a:xfrm>
            <a:off x="8705088" y="128016"/>
            <a:ext cx="274320" cy="3200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3"/>
          <p:cNvSpPr/>
          <p:nvPr/>
        </p:nvSpPr>
        <p:spPr>
          <a:xfrm>
            <a:off x="8947404" y="128016"/>
            <a:ext cx="32004" cy="20116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3"/>
          <p:cNvSpPr/>
          <p:nvPr/>
        </p:nvSpPr>
        <p:spPr>
          <a:xfrm>
            <a:off x="164592" y="5029200"/>
            <a:ext cx="274320" cy="3200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3"/>
          <p:cNvSpPr/>
          <p:nvPr/>
        </p:nvSpPr>
        <p:spPr>
          <a:xfrm>
            <a:off x="164592" y="4846320"/>
            <a:ext cx="32004" cy="219456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3"/>
          <p:cNvSpPr/>
          <p:nvPr/>
        </p:nvSpPr>
        <p:spPr>
          <a:xfrm>
            <a:off x="8705088" y="5029200"/>
            <a:ext cx="274320" cy="3200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3"/>
          <p:cNvSpPr/>
          <p:nvPr/>
        </p:nvSpPr>
        <p:spPr>
          <a:xfrm>
            <a:off x="8947404" y="4846320"/>
            <a:ext cx="32004" cy="219456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3"/>
          <p:cNvSpPr/>
          <p:nvPr/>
        </p:nvSpPr>
        <p:spPr>
          <a:xfrm>
            <a:off x="0" y="5120640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AURA — Neural Intelligence Platform  ·  Ghinwa Allaoui &amp; Riam Abbas  ·  2025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3"/>
          <p:cNvSpPr/>
          <p:nvPr/>
        </p:nvSpPr>
        <p:spPr>
          <a:xfrm>
            <a:off x="274320" y="137160"/>
            <a:ext cx="1645920" cy="292608"/>
          </a:xfrm>
          <a:prstGeom prst="roundRect">
            <a:avLst>
              <a:gd fmla="val 15625" name="adj"/>
            </a:avLst>
          </a:prstGeom>
          <a:solidFill>
            <a:srgbClr val="F59E0B">
              <a:alpha val="20000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3"/>
          <p:cNvSpPr/>
          <p:nvPr/>
        </p:nvSpPr>
        <p:spPr>
          <a:xfrm>
            <a:off x="274320" y="13716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3"/>
          <p:cNvSpPr/>
          <p:nvPr/>
        </p:nvSpPr>
        <p:spPr>
          <a:xfrm>
            <a:off x="2011680" y="109728"/>
            <a:ext cx="6858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Demonstration Plan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3"/>
          <p:cNvSpPr/>
          <p:nvPr/>
        </p:nvSpPr>
        <p:spPr>
          <a:xfrm>
            <a:off x="274320" y="749808"/>
            <a:ext cx="8595360" cy="530352"/>
          </a:xfrm>
          <a:prstGeom prst="roundRect">
            <a:avLst>
              <a:gd fmla="val 8621" name="adj"/>
            </a:avLst>
          </a:prstGeom>
          <a:solidFill>
            <a:srgbClr val="151E2A"/>
          </a:solidFill>
          <a:ln cap="flat" cmpd="sng" w="12700">
            <a:solidFill>
              <a:srgbClr val="06B6D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3"/>
          <p:cNvSpPr/>
          <p:nvPr/>
        </p:nvSpPr>
        <p:spPr>
          <a:xfrm>
            <a:off x="347472" y="804672"/>
            <a:ext cx="475488" cy="402336"/>
          </a:xfrm>
          <a:prstGeom prst="roundRect">
            <a:avLst>
              <a:gd fmla="val 9091" name="adj"/>
            </a:avLst>
          </a:prstGeom>
          <a:solidFill>
            <a:srgbClr val="06B6D4">
              <a:alpha val="21960"/>
            </a:srgbClr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3"/>
          <p:cNvSpPr/>
          <p:nvPr/>
        </p:nvSpPr>
        <p:spPr>
          <a:xfrm>
            <a:off x="347472" y="804672"/>
            <a:ext cx="4754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3"/>
          <p:cNvSpPr/>
          <p:nvPr/>
        </p:nvSpPr>
        <p:spPr>
          <a:xfrm>
            <a:off x="932688" y="804672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 Launch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3"/>
          <p:cNvSpPr/>
          <p:nvPr/>
        </p:nvSpPr>
        <p:spPr>
          <a:xfrm>
            <a:off x="932688" y="1042416"/>
            <a:ext cx="7132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Run: uvicorn main:app --host 0.0.0.0 --port 19090 --reload  ·  Show Swagger at /docs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3"/>
          <p:cNvSpPr/>
          <p:nvPr/>
        </p:nvSpPr>
        <p:spPr>
          <a:xfrm>
            <a:off x="8275320" y="841248"/>
            <a:ext cx="530352" cy="329184"/>
          </a:xfrm>
          <a:prstGeom prst="roundRect">
            <a:avLst>
              <a:gd fmla="val 11111" name="adj"/>
            </a:avLst>
          </a:prstGeom>
          <a:solidFill>
            <a:srgbClr val="06B6D4">
              <a:alpha val="18039"/>
            </a:srgbClr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3"/>
          <p:cNvSpPr/>
          <p:nvPr/>
        </p:nvSpPr>
        <p:spPr>
          <a:xfrm>
            <a:off x="8275320" y="841248"/>
            <a:ext cx="5303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30s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3"/>
          <p:cNvSpPr/>
          <p:nvPr/>
        </p:nvSpPr>
        <p:spPr>
          <a:xfrm>
            <a:off x="274320" y="1362456"/>
            <a:ext cx="8595360" cy="530352"/>
          </a:xfrm>
          <a:prstGeom prst="roundRect">
            <a:avLst>
              <a:gd fmla="val 8621" name="adj"/>
            </a:avLst>
          </a:prstGeom>
          <a:solidFill>
            <a:srgbClr val="151E2A"/>
          </a:solidFill>
          <a:ln cap="flat" cmpd="sng" w="12700">
            <a:solidFill>
              <a:srgbClr val="3B82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3"/>
          <p:cNvSpPr/>
          <p:nvPr/>
        </p:nvSpPr>
        <p:spPr>
          <a:xfrm>
            <a:off x="347472" y="1417320"/>
            <a:ext cx="475488" cy="402336"/>
          </a:xfrm>
          <a:prstGeom prst="roundRect">
            <a:avLst>
              <a:gd fmla="val 9091" name="adj"/>
            </a:avLst>
          </a:prstGeom>
          <a:solidFill>
            <a:srgbClr val="3B82F6">
              <a:alpha val="21960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3"/>
          <p:cNvSpPr/>
          <p:nvPr/>
        </p:nvSpPr>
        <p:spPr>
          <a:xfrm>
            <a:off x="347472" y="1417320"/>
            <a:ext cx="4754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3"/>
          <p:cNvSpPr/>
          <p:nvPr/>
        </p:nvSpPr>
        <p:spPr>
          <a:xfrm>
            <a:off x="932688" y="1417320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3"/>
          <p:cNvSpPr/>
          <p:nvPr/>
        </p:nvSpPr>
        <p:spPr>
          <a:xfrm>
            <a:off x="932688" y="1655064"/>
            <a:ext cx="7132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Open aura.html → Register → Login as Ghinwa Allaoui → Show JWT token issued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3"/>
          <p:cNvSpPr/>
          <p:nvPr/>
        </p:nvSpPr>
        <p:spPr>
          <a:xfrm>
            <a:off x="8275320" y="1453896"/>
            <a:ext cx="530352" cy="329184"/>
          </a:xfrm>
          <a:prstGeom prst="roundRect">
            <a:avLst>
              <a:gd fmla="val 11111" name="adj"/>
            </a:avLst>
          </a:prstGeom>
          <a:solidFill>
            <a:srgbClr val="3B82F6">
              <a:alpha val="18039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3"/>
          <p:cNvSpPr/>
          <p:nvPr/>
        </p:nvSpPr>
        <p:spPr>
          <a:xfrm>
            <a:off x="8275320" y="1453896"/>
            <a:ext cx="5303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40s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3"/>
          <p:cNvSpPr/>
          <p:nvPr/>
        </p:nvSpPr>
        <p:spPr>
          <a:xfrm>
            <a:off x="274320" y="1975104"/>
            <a:ext cx="8595360" cy="530352"/>
          </a:xfrm>
          <a:prstGeom prst="roundRect">
            <a:avLst>
              <a:gd fmla="val 8621" name="adj"/>
            </a:avLst>
          </a:prstGeom>
          <a:solidFill>
            <a:srgbClr val="151E2A"/>
          </a:solidFill>
          <a:ln cap="flat" cmpd="sng" w="12700">
            <a:solidFill>
              <a:srgbClr val="8B5C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3"/>
          <p:cNvSpPr/>
          <p:nvPr/>
        </p:nvSpPr>
        <p:spPr>
          <a:xfrm>
            <a:off x="347472" y="2029968"/>
            <a:ext cx="475488" cy="402336"/>
          </a:xfrm>
          <a:prstGeom prst="roundRect">
            <a:avLst>
              <a:gd fmla="val 9091" name="adj"/>
            </a:avLst>
          </a:prstGeom>
          <a:solidFill>
            <a:srgbClr val="8B5CF6">
              <a:alpha val="21960"/>
            </a:srgbClr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3"/>
          <p:cNvSpPr/>
          <p:nvPr/>
        </p:nvSpPr>
        <p:spPr>
          <a:xfrm>
            <a:off x="347472" y="2029968"/>
            <a:ext cx="4754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3"/>
          <p:cNvSpPr/>
          <p:nvPr/>
        </p:nvSpPr>
        <p:spPr>
          <a:xfrm>
            <a:off x="932688" y="2029968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 Intelligence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3"/>
          <p:cNvSpPr/>
          <p:nvPr/>
        </p:nvSpPr>
        <p:spPr>
          <a:xfrm>
            <a:off x="932688" y="2267712"/>
            <a:ext cx="7132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Paste Arabic threat text → Enter Groq key → Analyze → Show DANGER, entities, scores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3"/>
          <p:cNvSpPr/>
          <p:nvPr/>
        </p:nvSpPr>
        <p:spPr>
          <a:xfrm>
            <a:off x="8275320" y="2066544"/>
            <a:ext cx="530352" cy="329184"/>
          </a:xfrm>
          <a:prstGeom prst="roundRect">
            <a:avLst>
              <a:gd fmla="val 11111" name="adj"/>
            </a:avLst>
          </a:prstGeom>
          <a:solidFill>
            <a:srgbClr val="8B5CF6">
              <a:alpha val="18039"/>
            </a:srgbClr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3"/>
          <p:cNvSpPr/>
          <p:nvPr/>
        </p:nvSpPr>
        <p:spPr>
          <a:xfrm>
            <a:off x="8275320" y="2066544"/>
            <a:ext cx="5303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50s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3"/>
          <p:cNvSpPr/>
          <p:nvPr/>
        </p:nvSpPr>
        <p:spPr>
          <a:xfrm>
            <a:off x="274320" y="2587752"/>
            <a:ext cx="8595360" cy="530352"/>
          </a:xfrm>
          <a:prstGeom prst="roundRect">
            <a:avLst>
              <a:gd fmla="val 8621" name="adj"/>
            </a:avLst>
          </a:prstGeom>
          <a:solidFill>
            <a:srgbClr val="151E2A"/>
          </a:solidFill>
          <a:ln cap="flat" cmpd="sng" w="12700">
            <a:solidFill>
              <a:srgbClr val="EF444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13"/>
          <p:cNvSpPr/>
          <p:nvPr/>
        </p:nvSpPr>
        <p:spPr>
          <a:xfrm>
            <a:off x="347472" y="2642616"/>
            <a:ext cx="475488" cy="402336"/>
          </a:xfrm>
          <a:prstGeom prst="roundRect">
            <a:avLst>
              <a:gd fmla="val 9091" name="adj"/>
            </a:avLst>
          </a:prstGeom>
          <a:solidFill>
            <a:srgbClr val="EF4444">
              <a:alpha val="21960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3"/>
          <p:cNvSpPr/>
          <p:nvPr/>
        </p:nvSpPr>
        <p:spPr>
          <a:xfrm>
            <a:off x="347472" y="2642616"/>
            <a:ext cx="4754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3"/>
          <p:cNvSpPr/>
          <p:nvPr/>
        </p:nvSpPr>
        <p:spPr>
          <a:xfrm>
            <a:off x="932688" y="2642616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3"/>
          <p:cNvSpPr/>
          <p:nvPr/>
        </p:nvSpPr>
        <p:spPr>
          <a:xfrm>
            <a:off x="932688" y="2880360"/>
            <a:ext cx="7132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Upload image with person + knife → Analyze → Show CRITICAL escalation + bounding boxes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3"/>
          <p:cNvSpPr/>
          <p:nvPr/>
        </p:nvSpPr>
        <p:spPr>
          <a:xfrm>
            <a:off x="8275320" y="2679192"/>
            <a:ext cx="530352" cy="329184"/>
          </a:xfrm>
          <a:prstGeom prst="roundRect">
            <a:avLst>
              <a:gd fmla="val 11111" name="adj"/>
            </a:avLst>
          </a:prstGeom>
          <a:solidFill>
            <a:srgbClr val="EF4444">
              <a:alpha val="18039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3"/>
          <p:cNvSpPr/>
          <p:nvPr/>
        </p:nvSpPr>
        <p:spPr>
          <a:xfrm>
            <a:off x="8275320" y="2679192"/>
            <a:ext cx="5303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45s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3"/>
          <p:cNvSpPr/>
          <p:nvPr/>
        </p:nvSpPr>
        <p:spPr>
          <a:xfrm>
            <a:off x="274320" y="3200400"/>
            <a:ext cx="8595360" cy="530352"/>
          </a:xfrm>
          <a:prstGeom prst="roundRect">
            <a:avLst>
              <a:gd fmla="val 8621" name="adj"/>
            </a:avLst>
          </a:prstGeom>
          <a:solidFill>
            <a:srgbClr val="151E2A"/>
          </a:solidFill>
          <a:ln cap="flat" cmpd="sng" w="12700">
            <a:solidFill>
              <a:srgbClr val="F59E0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13"/>
          <p:cNvSpPr/>
          <p:nvPr/>
        </p:nvSpPr>
        <p:spPr>
          <a:xfrm>
            <a:off x="347472" y="3255264"/>
            <a:ext cx="475488" cy="402336"/>
          </a:xfrm>
          <a:prstGeom prst="roundRect">
            <a:avLst>
              <a:gd fmla="val 9091" name="adj"/>
            </a:avLst>
          </a:prstGeom>
          <a:solidFill>
            <a:srgbClr val="F59E0B">
              <a:alpha val="21960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3"/>
          <p:cNvSpPr/>
          <p:nvPr/>
        </p:nvSpPr>
        <p:spPr>
          <a:xfrm>
            <a:off x="347472" y="3255264"/>
            <a:ext cx="4754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3"/>
          <p:cNvSpPr/>
          <p:nvPr/>
        </p:nvSpPr>
        <p:spPr>
          <a:xfrm>
            <a:off x="932688" y="3255264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Video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3"/>
          <p:cNvSpPr/>
          <p:nvPr/>
        </p:nvSpPr>
        <p:spPr>
          <a:xfrm>
            <a:off x="932688" y="3493008"/>
            <a:ext cx="7132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Upload short MP4 → Analyze → Show threat timeline → Click segments for frame detail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3"/>
          <p:cNvSpPr/>
          <p:nvPr/>
        </p:nvSpPr>
        <p:spPr>
          <a:xfrm>
            <a:off x="8275320" y="3291840"/>
            <a:ext cx="530352" cy="329184"/>
          </a:xfrm>
          <a:prstGeom prst="roundRect">
            <a:avLst>
              <a:gd fmla="val 11111" name="adj"/>
            </a:avLst>
          </a:prstGeom>
          <a:solidFill>
            <a:srgbClr val="F59E0B">
              <a:alpha val="18039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3"/>
          <p:cNvSpPr/>
          <p:nvPr/>
        </p:nvSpPr>
        <p:spPr>
          <a:xfrm>
            <a:off x="8275320" y="3291840"/>
            <a:ext cx="5303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45s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3"/>
          <p:cNvSpPr/>
          <p:nvPr/>
        </p:nvSpPr>
        <p:spPr>
          <a:xfrm>
            <a:off x="274320" y="3813048"/>
            <a:ext cx="8595360" cy="530352"/>
          </a:xfrm>
          <a:prstGeom prst="roundRect">
            <a:avLst>
              <a:gd fmla="val 8621" name="adj"/>
            </a:avLst>
          </a:prstGeom>
          <a:solidFill>
            <a:srgbClr val="151E2A"/>
          </a:solidFill>
          <a:ln cap="flat" cmpd="sng" w="12700">
            <a:solidFill>
              <a:srgbClr val="10B98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3"/>
          <p:cNvSpPr/>
          <p:nvPr/>
        </p:nvSpPr>
        <p:spPr>
          <a:xfrm>
            <a:off x="347472" y="3867912"/>
            <a:ext cx="475488" cy="402336"/>
          </a:xfrm>
          <a:prstGeom prst="roundRect">
            <a:avLst>
              <a:gd fmla="val 9091" name="adj"/>
            </a:avLst>
          </a:prstGeom>
          <a:solidFill>
            <a:srgbClr val="10B981">
              <a:alpha val="21960"/>
            </a:srgbClr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3"/>
          <p:cNvSpPr/>
          <p:nvPr/>
        </p:nvSpPr>
        <p:spPr>
          <a:xfrm>
            <a:off x="347472" y="3867912"/>
            <a:ext cx="4754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3"/>
          <p:cNvSpPr/>
          <p:nvPr/>
        </p:nvSpPr>
        <p:spPr>
          <a:xfrm>
            <a:off x="932688" y="3867912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Camera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3"/>
          <p:cNvSpPr/>
          <p:nvPr/>
        </p:nvSpPr>
        <p:spPr>
          <a:xfrm>
            <a:off x="932688" y="4105656"/>
            <a:ext cx="7132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Activate camera stream → Show real-time YOLO detection + threat badge + FPS counter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3"/>
          <p:cNvSpPr/>
          <p:nvPr/>
        </p:nvSpPr>
        <p:spPr>
          <a:xfrm>
            <a:off x="8275320" y="3904488"/>
            <a:ext cx="530352" cy="329184"/>
          </a:xfrm>
          <a:prstGeom prst="roundRect">
            <a:avLst>
              <a:gd fmla="val 11111" name="adj"/>
            </a:avLst>
          </a:prstGeom>
          <a:solidFill>
            <a:srgbClr val="10B981">
              <a:alpha val="18039"/>
            </a:srgbClr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3"/>
          <p:cNvSpPr/>
          <p:nvPr/>
        </p:nvSpPr>
        <p:spPr>
          <a:xfrm>
            <a:off x="8275320" y="3904488"/>
            <a:ext cx="5303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40s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3"/>
          <p:cNvSpPr/>
          <p:nvPr/>
        </p:nvSpPr>
        <p:spPr>
          <a:xfrm>
            <a:off x="274320" y="4425696"/>
            <a:ext cx="8595360" cy="530352"/>
          </a:xfrm>
          <a:prstGeom prst="roundRect">
            <a:avLst>
              <a:gd fmla="val 8621" name="adj"/>
            </a:avLst>
          </a:prstGeom>
          <a:solidFill>
            <a:srgbClr val="151E2A"/>
          </a:solidFill>
          <a:ln cap="flat" cmpd="sng" w="12700">
            <a:solidFill>
              <a:srgbClr val="06B6D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3"/>
          <p:cNvSpPr/>
          <p:nvPr/>
        </p:nvSpPr>
        <p:spPr>
          <a:xfrm>
            <a:off x="347472" y="4480560"/>
            <a:ext cx="475488" cy="402336"/>
          </a:xfrm>
          <a:prstGeom prst="roundRect">
            <a:avLst>
              <a:gd fmla="val 9091" name="adj"/>
            </a:avLst>
          </a:prstGeom>
          <a:solidFill>
            <a:srgbClr val="06B6D4">
              <a:alpha val="21960"/>
            </a:srgbClr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3"/>
          <p:cNvSpPr/>
          <p:nvPr/>
        </p:nvSpPr>
        <p:spPr>
          <a:xfrm>
            <a:off x="347472" y="4480560"/>
            <a:ext cx="475488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3"/>
          <p:cNvSpPr/>
          <p:nvPr/>
        </p:nvSpPr>
        <p:spPr>
          <a:xfrm>
            <a:off x="932688" y="4480560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Reports &amp; History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3"/>
          <p:cNvSpPr/>
          <p:nvPr/>
        </p:nvSpPr>
        <p:spPr>
          <a:xfrm>
            <a:off x="932688" y="4718304"/>
            <a:ext cx="7132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Go to Scan History → Download PDF report → Show professional dark-themed output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3"/>
          <p:cNvSpPr/>
          <p:nvPr/>
        </p:nvSpPr>
        <p:spPr>
          <a:xfrm>
            <a:off x="8275320" y="4517136"/>
            <a:ext cx="530352" cy="329184"/>
          </a:xfrm>
          <a:prstGeom prst="roundRect">
            <a:avLst>
              <a:gd fmla="val 11111" name="adj"/>
            </a:avLst>
          </a:prstGeom>
          <a:solidFill>
            <a:srgbClr val="06B6D4">
              <a:alpha val="18039"/>
            </a:srgbClr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13"/>
          <p:cNvSpPr/>
          <p:nvPr/>
        </p:nvSpPr>
        <p:spPr>
          <a:xfrm>
            <a:off x="8275320" y="4517136"/>
            <a:ext cx="53035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30s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23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14"/>
          <p:cNvSpPr/>
          <p:nvPr/>
        </p:nvSpPr>
        <p:spPr>
          <a:xfrm>
            <a:off x="164592" y="128016"/>
            <a:ext cx="274320" cy="32004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14"/>
          <p:cNvSpPr/>
          <p:nvPr/>
        </p:nvSpPr>
        <p:spPr>
          <a:xfrm>
            <a:off x="164592" y="128016"/>
            <a:ext cx="32004" cy="201168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14"/>
          <p:cNvSpPr/>
          <p:nvPr/>
        </p:nvSpPr>
        <p:spPr>
          <a:xfrm>
            <a:off x="8705088" y="128016"/>
            <a:ext cx="274320" cy="32004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4"/>
          <p:cNvSpPr/>
          <p:nvPr/>
        </p:nvSpPr>
        <p:spPr>
          <a:xfrm>
            <a:off x="8947404" y="128016"/>
            <a:ext cx="32004" cy="201168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4"/>
          <p:cNvSpPr/>
          <p:nvPr/>
        </p:nvSpPr>
        <p:spPr>
          <a:xfrm>
            <a:off x="164592" y="5029200"/>
            <a:ext cx="274320" cy="32004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14"/>
          <p:cNvSpPr/>
          <p:nvPr/>
        </p:nvSpPr>
        <p:spPr>
          <a:xfrm>
            <a:off x="164592" y="4846320"/>
            <a:ext cx="32004" cy="219456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14"/>
          <p:cNvSpPr/>
          <p:nvPr/>
        </p:nvSpPr>
        <p:spPr>
          <a:xfrm>
            <a:off x="8705088" y="5029200"/>
            <a:ext cx="274320" cy="32004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4"/>
          <p:cNvSpPr/>
          <p:nvPr/>
        </p:nvSpPr>
        <p:spPr>
          <a:xfrm>
            <a:off x="8947404" y="4846320"/>
            <a:ext cx="32004" cy="219456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4"/>
          <p:cNvSpPr/>
          <p:nvPr/>
        </p:nvSpPr>
        <p:spPr>
          <a:xfrm>
            <a:off x="0" y="5120640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AURA — Neural Intelligence Platform  ·  Ghinwa Allaoui &amp; Riam Abbas  ·  2025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4"/>
          <p:cNvSpPr/>
          <p:nvPr/>
        </p:nvSpPr>
        <p:spPr>
          <a:xfrm>
            <a:off x="274320" y="137160"/>
            <a:ext cx="1645920" cy="292608"/>
          </a:xfrm>
          <a:prstGeom prst="roundRect">
            <a:avLst>
              <a:gd fmla="val 15625" name="adj"/>
            </a:avLst>
          </a:prstGeom>
          <a:solidFill>
            <a:srgbClr val="06B6D4">
              <a:alpha val="20000"/>
            </a:srgbClr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14"/>
          <p:cNvSpPr/>
          <p:nvPr/>
        </p:nvSpPr>
        <p:spPr>
          <a:xfrm>
            <a:off x="274320" y="13716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FUTURE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4"/>
          <p:cNvSpPr/>
          <p:nvPr/>
        </p:nvSpPr>
        <p:spPr>
          <a:xfrm>
            <a:off x="2011680" y="109728"/>
            <a:ext cx="6858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Enhancements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4"/>
          <p:cNvSpPr/>
          <p:nvPr/>
        </p:nvSpPr>
        <p:spPr>
          <a:xfrm>
            <a:off x="274320" y="749808"/>
            <a:ext cx="2743200" cy="4160520"/>
          </a:xfrm>
          <a:prstGeom prst="roundRect">
            <a:avLst>
              <a:gd fmla="val 2667" name="adj"/>
            </a:avLst>
          </a:prstGeom>
          <a:solidFill>
            <a:srgbClr val="151E2A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14"/>
          <p:cNvSpPr/>
          <p:nvPr/>
        </p:nvSpPr>
        <p:spPr>
          <a:xfrm>
            <a:off x="274320" y="749808"/>
            <a:ext cx="2743200" cy="36576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4"/>
          <p:cNvSpPr/>
          <p:nvPr/>
        </p:nvSpPr>
        <p:spPr>
          <a:xfrm>
            <a:off x="731520" y="877824"/>
            <a:ext cx="1828800" cy="347472"/>
          </a:xfrm>
          <a:prstGeom prst="roundRect">
            <a:avLst>
              <a:gd fmla="val 13158" name="adj"/>
            </a:avLst>
          </a:prstGeom>
          <a:solidFill>
            <a:srgbClr val="10B981">
              <a:alpha val="20000"/>
            </a:srgbClr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4"/>
          <p:cNvSpPr/>
          <p:nvPr/>
        </p:nvSpPr>
        <p:spPr>
          <a:xfrm>
            <a:off x="731520" y="877824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4"/>
          <p:cNvSpPr/>
          <p:nvPr/>
        </p:nvSpPr>
        <p:spPr>
          <a:xfrm>
            <a:off x="457200" y="1371600"/>
            <a:ext cx="2359152" cy="603504"/>
          </a:xfrm>
          <a:prstGeom prst="roundRect">
            <a:avLst>
              <a:gd fmla="val 7576" name="adj"/>
            </a:avLst>
          </a:prstGeom>
          <a:solidFill>
            <a:srgbClr val="0D1117"/>
          </a:solidFill>
          <a:ln cap="flat" cmpd="sng" w="12700">
            <a:solidFill>
              <a:srgbClr val="10B98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14"/>
          <p:cNvSpPr/>
          <p:nvPr/>
        </p:nvSpPr>
        <p:spPr>
          <a:xfrm>
            <a:off x="502920" y="1371600"/>
            <a:ext cx="226771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IP camera / RTSP stream support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4"/>
          <p:cNvSpPr/>
          <p:nvPr/>
        </p:nvSpPr>
        <p:spPr>
          <a:xfrm>
            <a:off x="457200" y="2084832"/>
            <a:ext cx="2359152" cy="603504"/>
          </a:xfrm>
          <a:prstGeom prst="roundRect">
            <a:avLst>
              <a:gd fmla="val 7576" name="adj"/>
            </a:avLst>
          </a:prstGeom>
          <a:solidFill>
            <a:srgbClr val="0D1117"/>
          </a:solidFill>
          <a:ln cap="flat" cmpd="sng" w="12700">
            <a:solidFill>
              <a:srgbClr val="10B98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14"/>
          <p:cNvSpPr/>
          <p:nvPr/>
        </p:nvSpPr>
        <p:spPr>
          <a:xfrm>
            <a:off x="502920" y="2084832"/>
            <a:ext cx="226771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Custom threat rule builder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4"/>
          <p:cNvSpPr/>
          <p:nvPr/>
        </p:nvSpPr>
        <p:spPr>
          <a:xfrm>
            <a:off x="457200" y="2798064"/>
            <a:ext cx="2359152" cy="603504"/>
          </a:xfrm>
          <a:prstGeom prst="roundRect">
            <a:avLst>
              <a:gd fmla="val 7576" name="adj"/>
            </a:avLst>
          </a:prstGeom>
          <a:solidFill>
            <a:srgbClr val="0D1117"/>
          </a:solidFill>
          <a:ln cap="flat" cmpd="sng" w="12700">
            <a:solidFill>
              <a:srgbClr val="10B98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14"/>
          <p:cNvSpPr/>
          <p:nvPr/>
        </p:nvSpPr>
        <p:spPr>
          <a:xfrm>
            <a:off x="502920" y="2798064"/>
            <a:ext cx="226771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Mobile-responsive PWA version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4"/>
          <p:cNvSpPr/>
          <p:nvPr/>
        </p:nvSpPr>
        <p:spPr>
          <a:xfrm>
            <a:off x="457200" y="3511296"/>
            <a:ext cx="2359152" cy="603504"/>
          </a:xfrm>
          <a:prstGeom prst="roundRect">
            <a:avLst>
              <a:gd fmla="val 7576" name="adj"/>
            </a:avLst>
          </a:prstGeom>
          <a:solidFill>
            <a:srgbClr val="0D1117"/>
          </a:solidFill>
          <a:ln cap="flat" cmpd="sng" w="12700">
            <a:solidFill>
              <a:srgbClr val="10B981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14"/>
          <p:cNvSpPr/>
          <p:nvPr/>
        </p:nvSpPr>
        <p:spPr>
          <a:xfrm>
            <a:off x="502920" y="3511296"/>
            <a:ext cx="226771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Real-time SMS / email alerts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4"/>
          <p:cNvSpPr/>
          <p:nvPr/>
        </p:nvSpPr>
        <p:spPr>
          <a:xfrm>
            <a:off x="3246120" y="749808"/>
            <a:ext cx="2743200" cy="4160520"/>
          </a:xfrm>
          <a:prstGeom prst="roundRect">
            <a:avLst>
              <a:gd fmla="val 2667" name="adj"/>
            </a:avLst>
          </a:prstGeom>
          <a:solidFill>
            <a:srgbClr val="151E2A"/>
          </a:solidFill>
          <a:ln cap="flat" cmpd="sng" w="1905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14"/>
          <p:cNvSpPr/>
          <p:nvPr/>
        </p:nvSpPr>
        <p:spPr>
          <a:xfrm>
            <a:off x="3246120" y="749808"/>
            <a:ext cx="2743200" cy="36576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14"/>
          <p:cNvSpPr/>
          <p:nvPr/>
        </p:nvSpPr>
        <p:spPr>
          <a:xfrm>
            <a:off x="3703320" y="877824"/>
            <a:ext cx="1828800" cy="347472"/>
          </a:xfrm>
          <a:prstGeom prst="roundRect">
            <a:avLst>
              <a:gd fmla="val 13158" name="adj"/>
            </a:avLst>
          </a:prstGeom>
          <a:solidFill>
            <a:srgbClr val="06B6D4">
              <a:alpha val="20000"/>
            </a:srgbClr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14"/>
          <p:cNvSpPr/>
          <p:nvPr/>
        </p:nvSpPr>
        <p:spPr>
          <a:xfrm>
            <a:off x="3703320" y="877824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4"/>
          <p:cNvSpPr/>
          <p:nvPr/>
        </p:nvSpPr>
        <p:spPr>
          <a:xfrm>
            <a:off x="3429000" y="1371600"/>
            <a:ext cx="2359152" cy="603504"/>
          </a:xfrm>
          <a:prstGeom prst="roundRect">
            <a:avLst>
              <a:gd fmla="val 7576" name="adj"/>
            </a:avLst>
          </a:prstGeom>
          <a:solidFill>
            <a:srgbClr val="0D1117"/>
          </a:solidFill>
          <a:ln cap="flat" cmpd="sng" w="12700">
            <a:solidFill>
              <a:srgbClr val="06B6D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14"/>
          <p:cNvSpPr/>
          <p:nvPr/>
        </p:nvSpPr>
        <p:spPr>
          <a:xfrm>
            <a:off x="3474720" y="1371600"/>
            <a:ext cx="226771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Multi-camera unified dashboard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4"/>
          <p:cNvSpPr/>
          <p:nvPr/>
        </p:nvSpPr>
        <p:spPr>
          <a:xfrm>
            <a:off x="3429000" y="2084832"/>
            <a:ext cx="2359152" cy="603504"/>
          </a:xfrm>
          <a:prstGeom prst="roundRect">
            <a:avLst>
              <a:gd fmla="val 7576" name="adj"/>
            </a:avLst>
          </a:prstGeom>
          <a:solidFill>
            <a:srgbClr val="0D1117"/>
          </a:solidFill>
          <a:ln cap="flat" cmpd="sng" w="12700">
            <a:solidFill>
              <a:srgbClr val="06B6D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4"/>
          <p:cNvSpPr/>
          <p:nvPr/>
        </p:nvSpPr>
        <p:spPr>
          <a:xfrm>
            <a:off x="3474720" y="2084832"/>
            <a:ext cx="226771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Cloud deployment: AWS / Azure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4"/>
          <p:cNvSpPr/>
          <p:nvPr/>
        </p:nvSpPr>
        <p:spPr>
          <a:xfrm>
            <a:off x="3429000" y="2798064"/>
            <a:ext cx="2359152" cy="603504"/>
          </a:xfrm>
          <a:prstGeom prst="roundRect">
            <a:avLst>
              <a:gd fmla="val 7576" name="adj"/>
            </a:avLst>
          </a:prstGeom>
          <a:solidFill>
            <a:srgbClr val="0D1117"/>
          </a:solidFill>
          <a:ln cap="flat" cmpd="sng" w="12700">
            <a:solidFill>
              <a:srgbClr val="06B6D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14"/>
          <p:cNvSpPr/>
          <p:nvPr/>
        </p:nvSpPr>
        <p:spPr>
          <a:xfrm>
            <a:off x="3474720" y="2798064"/>
            <a:ext cx="226771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Export analytics to Excel / CSV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4"/>
          <p:cNvSpPr/>
          <p:nvPr/>
        </p:nvSpPr>
        <p:spPr>
          <a:xfrm>
            <a:off x="3429000" y="3511296"/>
            <a:ext cx="2359152" cy="603504"/>
          </a:xfrm>
          <a:prstGeom prst="roundRect">
            <a:avLst>
              <a:gd fmla="val 7576" name="adj"/>
            </a:avLst>
          </a:prstGeom>
          <a:solidFill>
            <a:srgbClr val="0D1117"/>
          </a:solidFill>
          <a:ln cap="flat" cmpd="sng" w="12700">
            <a:solidFill>
              <a:srgbClr val="06B6D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14"/>
          <p:cNvSpPr/>
          <p:nvPr/>
        </p:nvSpPr>
        <p:spPr>
          <a:xfrm>
            <a:off x="3474720" y="3511296"/>
            <a:ext cx="226771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Arabic full UI localization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4"/>
          <p:cNvSpPr/>
          <p:nvPr/>
        </p:nvSpPr>
        <p:spPr>
          <a:xfrm>
            <a:off x="6217920" y="749808"/>
            <a:ext cx="2743200" cy="4160520"/>
          </a:xfrm>
          <a:prstGeom prst="roundRect">
            <a:avLst>
              <a:gd fmla="val 2667" name="adj"/>
            </a:avLst>
          </a:prstGeom>
          <a:solidFill>
            <a:srgbClr val="151E2A"/>
          </a:solidFill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14"/>
          <p:cNvSpPr/>
          <p:nvPr/>
        </p:nvSpPr>
        <p:spPr>
          <a:xfrm>
            <a:off x="6217920" y="749808"/>
            <a:ext cx="2743200" cy="36576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14"/>
          <p:cNvSpPr/>
          <p:nvPr/>
        </p:nvSpPr>
        <p:spPr>
          <a:xfrm>
            <a:off x="6675120" y="877824"/>
            <a:ext cx="1828800" cy="347472"/>
          </a:xfrm>
          <a:prstGeom prst="roundRect">
            <a:avLst>
              <a:gd fmla="val 13158" name="adj"/>
            </a:avLst>
          </a:prstGeom>
          <a:solidFill>
            <a:srgbClr val="8B5CF6">
              <a:alpha val="20000"/>
            </a:srgbClr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14"/>
          <p:cNvSpPr/>
          <p:nvPr/>
        </p:nvSpPr>
        <p:spPr>
          <a:xfrm>
            <a:off x="6675120" y="877824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Phase 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4"/>
          <p:cNvSpPr/>
          <p:nvPr/>
        </p:nvSpPr>
        <p:spPr>
          <a:xfrm>
            <a:off x="6400800" y="1371600"/>
            <a:ext cx="2359152" cy="603504"/>
          </a:xfrm>
          <a:prstGeom prst="roundRect">
            <a:avLst>
              <a:gd fmla="val 7576" name="adj"/>
            </a:avLst>
          </a:prstGeom>
          <a:solidFill>
            <a:srgbClr val="0D1117"/>
          </a:solidFill>
          <a:ln cap="flat" cmpd="sng" w="12700">
            <a:solidFill>
              <a:srgbClr val="8B5C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14"/>
          <p:cNvSpPr/>
          <p:nvPr/>
        </p:nvSpPr>
        <p:spPr>
          <a:xfrm>
            <a:off x="6446520" y="1371600"/>
            <a:ext cx="226771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Custom YOLO model fine-tuning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4"/>
          <p:cNvSpPr/>
          <p:nvPr/>
        </p:nvSpPr>
        <p:spPr>
          <a:xfrm>
            <a:off x="6400800" y="2084832"/>
            <a:ext cx="2359152" cy="603504"/>
          </a:xfrm>
          <a:prstGeom prst="roundRect">
            <a:avLst>
              <a:gd fmla="val 7576" name="adj"/>
            </a:avLst>
          </a:prstGeom>
          <a:solidFill>
            <a:srgbClr val="0D1117"/>
          </a:solidFill>
          <a:ln cap="flat" cmpd="sng" w="12700">
            <a:solidFill>
              <a:srgbClr val="8B5C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14"/>
          <p:cNvSpPr/>
          <p:nvPr/>
        </p:nvSpPr>
        <p:spPr>
          <a:xfrm>
            <a:off x="6446520" y="2084832"/>
            <a:ext cx="226771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Audio threat 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4"/>
          <p:cNvSpPr/>
          <p:nvPr/>
        </p:nvSpPr>
        <p:spPr>
          <a:xfrm>
            <a:off x="6400800" y="2798064"/>
            <a:ext cx="2359152" cy="603504"/>
          </a:xfrm>
          <a:prstGeom prst="roundRect">
            <a:avLst>
              <a:gd fmla="val 7576" name="adj"/>
            </a:avLst>
          </a:prstGeom>
          <a:solidFill>
            <a:srgbClr val="0D1117"/>
          </a:solidFill>
          <a:ln cap="flat" cmpd="sng" w="12700">
            <a:solidFill>
              <a:srgbClr val="8B5C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14"/>
          <p:cNvSpPr/>
          <p:nvPr/>
        </p:nvSpPr>
        <p:spPr>
          <a:xfrm>
            <a:off x="6446520" y="2798064"/>
            <a:ext cx="226771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Active Directory / SSO login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4"/>
          <p:cNvSpPr/>
          <p:nvPr/>
        </p:nvSpPr>
        <p:spPr>
          <a:xfrm>
            <a:off x="6400800" y="3511296"/>
            <a:ext cx="2359152" cy="603504"/>
          </a:xfrm>
          <a:prstGeom prst="roundRect">
            <a:avLst>
              <a:gd fmla="val 7576" name="adj"/>
            </a:avLst>
          </a:prstGeom>
          <a:solidFill>
            <a:srgbClr val="0D1117"/>
          </a:solidFill>
          <a:ln cap="flat" cmpd="sng" w="12700">
            <a:solidFill>
              <a:srgbClr val="8B5C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14"/>
          <p:cNvSpPr/>
          <p:nvPr/>
        </p:nvSpPr>
        <p:spPr>
          <a:xfrm>
            <a:off x="6446520" y="3511296"/>
            <a:ext cx="2267712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Automated patrol report scheduling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23"/>
        </a:solidFill>
      </p:bgPr>
    </p:bg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5"/>
          <p:cNvSpPr/>
          <p:nvPr/>
        </p:nvSpPr>
        <p:spPr>
          <a:xfrm>
            <a:off x="164592" y="128016"/>
            <a:ext cx="274320" cy="3200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15"/>
          <p:cNvSpPr/>
          <p:nvPr/>
        </p:nvSpPr>
        <p:spPr>
          <a:xfrm>
            <a:off x="164592" y="128016"/>
            <a:ext cx="32004" cy="201168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15"/>
          <p:cNvSpPr/>
          <p:nvPr/>
        </p:nvSpPr>
        <p:spPr>
          <a:xfrm>
            <a:off x="8705088" y="128016"/>
            <a:ext cx="274320" cy="3200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15"/>
          <p:cNvSpPr/>
          <p:nvPr/>
        </p:nvSpPr>
        <p:spPr>
          <a:xfrm>
            <a:off x="8947404" y="128016"/>
            <a:ext cx="32004" cy="201168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15"/>
          <p:cNvSpPr/>
          <p:nvPr/>
        </p:nvSpPr>
        <p:spPr>
          <a:xfrm>
            <a:off x="164592" y="5029200"/>
            <a:ext cx="274320" cy="3200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15"/>
          <p:cNvSpPr/>
          <p:nvPr/>
        </p:nvSpPr>
        <p:spPr>
          <a:xfrm>
            <a:off x="164592" y="4846320"/>
            <a:ext cx="32004" cy="219456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15"/>
          <p:cNvSpPr/>
          <p:nvPr/>
        </p:nvSpPr>
        <p:spPr>
          <a:xfrm>
            <a:off x="8705088" y="5029200"/>
            <a:ext cx="274320" cy="3200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15"/>
          <p:cNvSpPr/>
          <p:nvPr/>
        </p:nvSpPr>
        <p:spPr>
          <a:xfrm>
            <a:off x="8947404" y="4846320"/>
            <a:ext cx="32004" cy="219456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15"/>
          <p:cNvSpPr/>
          <p:nvPr/>
        </p:nvSpPr>
        <p:spPr>
          <a:xfrm>
            <a:off x="3017520" y="548640"/>
            <a:ext cx="3108960" cy="3108960"/>
          </a:xfrm>
          <a:prstGeom prst="ellipse">
            <a:avLst/>
          </a:prstGeom>
          <a:solidFill>
            <a:srgbClr val="3B82F6">
              <a:alpha val="7058"/>
            </a:srgbClr>
          </a:solidFill>
          <a:ln cap="flat" cmpd="sng" w="12700">
            <a:solidFill>
              <a:srgbClr val="3B82F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15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3B82F6">
              <a:alpha val="12156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15"/>
          <p:cNvSpPr/>
          <p:nvPr/>
        </p:nvSpPr>
        <p:spPr>
          <a:xfrm>
            <a:off x="0" y="1097280"/>
            <a:ext cx="9144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Arial Black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AURA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5"/>
          <p:cNvSpPr/>
          <p:nvPr/>
        </p:nvSpPr>
        <p:spPr>
          <a:xfrm>
            <a:off x="0" y="2148840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Neural Intelligence Platform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5"/>
          <p:cNvSpPr/>
          <p:nvPr/>
        </p:nvSpPr>
        <p:spPr>
          <a:xfrm>
            <a:off x="2560320" y="2651760"/>
            <a:ext cx="4023360" cy="18288"/>
          </a:xfrm>
          <a:prstGeom prst="rect">
            <a:avLst/>
          </a:prstGeom>
          <a:solidFill>
            <a:srgbClr val="3B82F6">
              <a:alpha val="50196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15"/>
          <p:cNvSpPr/>
          <p:nvPr/>
        </p:nvSpPr>
        <p:spPr>
          <a:xfrm>
            <a:off x="0" y="278892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5"/>
          <p:cNvSpPr/>
          <p:nvPr/>
        </p:nvSpPr>
        <p:spPr>
          <a:xfrm>
            <a:off x="2286000" y="3401568"/>
            <a:ext cx="137160" cy="137160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15"/>
          <p:cNvSpPr/>
          <p:nvPr/>
        </p:nvSpPr>
        <p:spPr>
          <a:xfrm>
            <a:off x="2542032" y="3346704"/>
            <a:ext cx="6309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Multi-modal AI — images, videos, Arabic/English text, and live camera in one platform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5"/>
          <p:cNvSpPr/>
          <p:nvPr/>
        </p:nvSpPr>
        <p:spPr>
          <a:xfrm>
            <a:off x="2286000" y="3785616"/>
            <a:ext cx="137160" cy="137160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15"/>
          <p:cNvSpPr/>
          <p:nvPr/>
        </p:nvSpPr>
        <p:spPr>
          <a:xfrm>
            <a:off x="2542032" y="3730752"/>
            <a:ext cx="6309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YOLOv8 + FastAPI + Groq LLM — fully local, secure, role-based, with PDF reporting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5"/>
          <p:cNvSpPr/>
          <p:nvPr/>
        </p:nvSpPr>
        <p:spPr>
          <a:xfrm>
            <a:off x="2286000" y="4169664"/>
            <a:ext cx="137160" cy="137160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15"/>
          <p:cNvSpPr/>
          <p:nvPr/>
        </p:nvSpPr>
        <p:spPr>
          <a:xfrm>
            <a:off x="2542032" y="4114800"/>
            <a:ext cx="6309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Built from scratch by Ghinwa Allaoui &amp; Riam Abbas for Women in Tech ·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923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16"/>
          <p:cNvSpPr/>
          <p:nvPr/>
        </p:nvSpPr>
        <p:spPr>
          <a:xfrm>
            <a:off x="164592" y="128016"/>
            <a:ext cx="274320" cy="32004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6"/>
          <p:cNvSpPr/>
          <p:nvPr/>
        </p:nvSpPr>
        <p:spPr>
          <a:xfrm>
            <a:off x="164592" y="128016"/>
            <a:ext cx="32004" cy="201168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16"/>
          <p:cNvSpPr/>
          <p:nvPr/>
        </p:nvSpPr>
        <p:spPr>
          <a:xfrm>
            <a:off x="8705088" y="128016"/>
            <a:ext cx="274320" cy="32004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16"/>
          <p:cNvSpPr/>
          <p:nvPr/>
        </p:nvSpPr>
        <p:spPr>
          <a:xfrm>
            <a:off x="8947404" y="128016"/>
            <a:ext cx="32004" cy="201168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6"/>
          <p:cNvSpPr/>
          <p:nvPr/>
        </p:nvSpPr>
        <p:spPr>
          <a:xfrm>
            <a:off x="164592" y="5029200"/>
            <a:ext cx="274320" cy="32004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16"/>
          <p:cNvSpPr/>
          <p:nvPr/>
        </p:nvSpPr>
        <p:spPr>
          <a:xfrm>
            <a:off x="164592" y="4846320"/>
            <a:ext cx="32004" cy="219456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16"/>
          <p:cNvSpPr/>
          <p:nvPr/>
        </p:nvSpPr>
        <p:spPr>
          <a:xfrm>
            <a:off x="8705088" y="5029200"/>
            <a:ext cx="274320" cy="32004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16"/>
          <p:cNvSpPr/>
          <p:nvPr/>
        </p:nvSpPr>
        <p:spPr>
          <a:xfrm>
            <a:off x="8947404" y="4846320"/>
            <a:ext cx="32004" cy="219456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16"/>
          <p:cNvSpPr/>
          <p:nvPr/>
        </p:nvSpPr>
        <p:spPr>
          <a:xfrm>
            <a:off x="0" y="5120640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AURA — Neural Intelligence Platform  ·  Ghinwa Allaoui &amp; Riam Abbas  ·  2025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16"/>
          <p:cNvSpPr/>
          <p:nvPr/>
        </p:nvSpPr>
        <p:spPr>
          <a:xfrm>
            <a:off x="274320" y="137160"/>
            <a:ext cx="1645920" cy="292608"/>
          </a:xfrm>
          <a:prstGeom prst="roundRect">
            <a:avLst>
              <a:gd fmla="val 15625" name="adj"/>
            </a:avLst>
          </a:prstGeom>
          <a:solidFill>
            <a:srgbClr val="94A3B8">
              <a:alpha val="20000"/>
            </a:srgbClr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16"/>
          <p:cNvSpPr/>
          <p:nvPr/>
        </p:nvSpPr>
        <p:spPr>
          <a:xfrm>
            <a:off x="274320" y="13716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16"/>
          <p:cNvSpPr/>
          <p:nvPr/>
        </p:nvSpPr>
        <p:spPr>
          <a:xfrm>
            <a:off x="2011680" y="109728"/>
            <a:ext cx="68580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References &amp; Resources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16"/>
          <p:cNvSpPr/>
          <p:nvPr/>
        </p:nvSpPr>
        <p:spPr>
          <a:xfrm>
            <a:off x="274320" y="749808"/>
            <a:ext cx="1188720" cy="256032"/>
          </a:xfrm>
          <a:prstGeom prst="roundRect">
            <a:avLst>
              <a:gd fmla="val 14286" name="adj"/>
            </a:avLst>
          </a:prstGeom>
          <a:solidFill>
            <a:srgbClr val="151E2A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16"/>
          <p:cNvSpPr/>
          <p:nvPr/>
        </p:nvSpPr>
        <p:spPr>
          <a:xfrm>
            <a:off x="274320" y="74980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AI / ML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16"/>
          <p:cNvSpPr/>
          <p:nvPr/>
        </p:nvSpPr>
        <p:spPr>
          <a:xfrm>
            <a:off x="1572768" y="749808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Ultralytics YOLOv8 — https://github.com/ultralytics/ultralytics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16"/>
          <p:cNvSpPr/>
          <p:nvPr/>
        </p:nvSpPr>
        <p:spPr>
          <a:xfrm>
            <a:off x="1572768" y="1024128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Groq API (llama-3.3-70b) — https://console.groq.com/docs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16"/>
          <p:cNvSpPr/>
          <p:nvPr/>
        </p:nvSpPr>
        <p:spPr>
          <a:xfrm>
            <a:off x="1572768" y="1298448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OpenCV Documentation — https://docs.opencv.org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16"/>
          <p:cNvSpPr/>
          <p:nvPr/>
        </p:nvSpPr>
        <p:spPr>
          <a:xfrm>
            <a:off x="274320" y="1883664"/>
            <a:ext cx="1188720" cy="256032"/>
          </a:xfrm>
          <a:prstGeom prst="roundRect">
            <a:avLst>
              <a:gd fmla="val 14286" name="adj"/>
            </a:avLst>
          </a:prstGeom>
          <a:solidFill>
            <a:srgbClr val="151E2A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16"/>
          <p:cNvSpPr/>
          <p:nvPr/>
        </p:nvSpPr>
        <p:spPr>
          <a:xfrm>
            <a:off x="274320" y="1883664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16"/>
          <p:cNvSpPr/>
          <p:nvPr/>
        </p:nvSpPr>
        <p:spPr>
          <a:xfrm>
            <a:off x="1572768" y="1883664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FastAPI Documentation — https://fastapi.tiangolo.com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16"/>
          <p:cNvSpPr/>
          <p:nvPr/>
        </p:nvSpPr>
        <p:spPr>
          <a:xfrm>
            <a:off x="1572768" y="2157984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SQLAlchemy ORM — https://docs.sqlalchemy.org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16"/>
          <p:cNvSpPr/>
          <p:nvPr/>
        </p:nvSpPr>
        <p:spPr>
          <a:xfrm>
            <a:off x="1572768" y="2432304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Python-Jose (JWT) — https://python-jose.readthedocs.io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6"/>
          <p:cNvSpPr/>
          <p:nvPr/>
        </p:nvSpPr>
        <p:spPr>
          <a:xfrm>
            <a:off x="1572768" y="2706624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ReportLab PDF — https://www.reportlab.com/docs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6"/>
          <p:cNvSpPr/>
          <p:nvPr/>
        </p:nvSpPr>
        <p:spPr>
          <a:xfrm>
            <a:off x="274320" y="3291840"/>
            <a:ext cx="1188720" cy="256032"/>
          </a:xfrm>
          <a:prstGeom prst="roundRect">
            <a:avLst>
              <a:gd fmla="val 14286" name="adj"/>
            </a:avLst>
          </a:prstGeom>
          <a:solidFill>
            <a:srgbClr val="151E2A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16"/>
          <p:cNvSpPr/>
          <p:nvPr/>
        </p:nvSpPr>
        <p:spPr>
          <a:xfrm>
            <a:off x="274320" y="329184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16"/>
          <p:cNvSpPr/>
          <p:nvPr/>
        </p:nvSpPr>
        <p:spPr>
          <a:xfrm>
            <a:off x="1572768" y="3291840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Chart.js — https://www.chartjs.org/docs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16"/>
          <p:cNvSpPr/>
          <p:nvPr/>
        </p:nvSpPr>
        <p:spPr>
          <a:xfrm>
            <a:off x="1572768" y="3566160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Tailwind CSS — https://tailwindcss.com/docs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16"/>
          <p:cNvSpPr/>
          <p:nvPr/>
        </p:nvSpPr>
        <p:spPr>
          <a:xfrm>
            <a:off x="1572768" y="3840480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Google Fonts (Orbitron, Share Tech Mono) — fonts.google.com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16"/>
          <p:cNvSpPr/>
          <p:nvPr/>
        </p:nvSpPr>
        <p:spPr>
          <a:xfrm>
            <a:off x="274320" y="4425696"/>
            <a:ext cx="1188720" cy="256032"/>
          </a:xfrm>
          <a:prstGeom prst="roundRect">
            <a:avLst>
              <a:gd fmla="val 14286" name="adj"/>
            </a:avLst>
          </a:prstGeom>
          <a:solidFill>
            <a:srgbClr val="151E2A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16"/>
          <p:cNvSpPr/>
          <p:nvPr/>
        </p:nvSpPr>
        <p:spPr>
          <a:xfrm>
            <a:off x="274320" y="442569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Datasets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16"/>
          <p:cNvSpPr/>
          <p:nvPr/>
        </p:nvSpPr>
        <p:spPr>
          <a:xfrm>
            <a:off x="1572768" y="4425696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COCO Dataset (80 classes) — https://cocodataset.org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16"/>
          <p:cNvSpPr/>
          <p:nvPr/>
        </p:nvSpPr>
        <p:spPr>
          <a:xfrm>
            <a:off x="1572768" y="4700016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YOLOv8n pre-trained weights (COCO) — Ultralytics Hub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2026-05-09T10:02:54Z</dcterms:created>
  <dc:creator>PptxGenJS</dc:creator>
</cp:coreProperties>
</file>